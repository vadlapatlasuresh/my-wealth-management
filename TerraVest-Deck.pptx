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097280"/>
            <a:ext cx="5943600" cy="5943600"/>
          </a:xfrm>
          <a:prstGeom prst="ellipse">
            <a:avLst/>
          </a:prstGeom>
          <a:solidFill>
            <a:srgbClr val="0E3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77724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0140" y="859536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8229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TerraVest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9601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All your wealth,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F0C878"/>
                </a:solidFill>
                <a:latin typeface="Georgia"/>
              </a:rPr>
              <a:t>one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343400"/>
            <a:ext cx="8778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AF3EE"/>
                </a:solidFill>
                <a:latin typeface="Calibri"/>
              </a:rPr>
              <a:t>The financial home for the self-employed with real estate — personal accounts, business books, property, debt and AI advice, finally in one trusted 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5715000"/>
            <a:ext cx="548640" cy="4114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0C878"/>
                </a:solidFill>
                <a:latin typeface="Calibri"/>
              </a:rPr>
              <a:t>Live at app.terravest.app</a:t>
            </a:r>
            <a:r>
              <a:rPr sz="1400" b="0">
                <a:solidFill>
                  <a:srgbClr val="EAF3EE"/>
                </a:solidFill>
                <a:latin typeface="Calibri"/>
              </a:rPr>
              <a:t>      ·      Web · iOS · Android from one codebase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973A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4D3B"/>
                </a:solidFill>
                <a:latin typeface="Georgia"/>
              </a:rPr>
              <a:t>Millions live a two-ledger life that no tool reconciles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564B"/>
                </a:solidFill>
                <a:latin typeface="Calibri"/>
              </a:rPr>
              <a:t>If you run a business and a household, your money lives in two worlds that never add 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3429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82296" cy="3108960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15768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A4D3B"/>
                </a:solidFill>
                <a:latin typeface="Georgia"/>
              </a:rPr>
              <a:t>The consumer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191256"/>
            <a:ext cx="2971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Mint, Monarch and Empower show your personal net worth — but they're blind to your business, your LLC, and your rental properties. Half your financial life is missing.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514600"/>
            <a:ext cx="3429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2514600"/>
            <a:ext cx="82296" cy="3108960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715768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A4D3B"/>
                </a:solidFill>
                <a:latin typeface="Georgia"/>
              </a:rPr>
              <a:t>The accounting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91256"/>
            <a:ext cx="2971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QuickBooks tracks the business books — but knows nothing about your household net worth, your home equity, or your personal goals. The other half is missing.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1856" y="251460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2514600"/>
            <a:ext cx="82296" cy="3108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71576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A4D3B"/>
                </a:solidFill>
                <a:latin typeface="Georgia"/>
              </a:rPr>
              <a:t>So every big moment hurts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191256"/>
            <a:ext cx="29260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Tax season, a loan application, a "can I afford this?" decision — each forces a manual reconciliation across 6+ logins and a spreadsheet, and it's wrong by the time you finish.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9086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9086"/>
                </a:solidFill>
                <a:latin typeface="Calibri"/>
              </a:rPr>
              <a:t>TerraVest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973A"/>
                </a:solidFill>
                <a:latin typeface="Calibri"/>
              </a:rPr>
              <a:t>WHO IT HELPS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4D3B"/>
                </a:solidFill>
                <a:latin typeface="Georgia"/>
              </a:rPr>
              <a:t>Built for the people every bank under-serves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564B"/>
                </a:solidFill>
                <a:latin typeface="Calibri"/>
              </a:rPr>
              <a:t>TerraVest isn't a dashboard "for everyone." It's built for one under-served, high-value group.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60320"/>
            <a:ext cx="10561320" cy="1371600"/>
          </a:xfrm>
          <a:prstGeom prst="rect">
            <a:avLst/>
          </a:prstGeom>
          <a:solidFill>
            <a:srgbClr val="1A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058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The owner-operator with property — </a:t>
            </a:r>
            <a:r>
              <a:rPr sz="1700" b="0">
                <a:solidFill>
                  <a:srgbClr val="EAF3EE"/>
                </a:solidFill>
                <a:latin typeface="Calibri"/>
              </a:rPr>
              <a:t>a contractor, agency owner, freelancer or landlord who runs a business </a:t>
            </a:r>
            <a:r>
              <a:rPr sz="1700" b="1">
                <a:solidFill>
                  <a:srgbClr val="F0C878"/>
                </a:solidFill>
                <a:latin typeface="Calibri"/>
              </a:rPr>
              <a:t>and</a:t>
            </a:r>
            <a:r>
              <a:rPr sz="1700" b="0">
                <a:solidFill>
                  <a:srgbClr val="EAF3EE"/>
                </a:solidFill>
                <a:latin typeface="Calibri"/>
              </a:rPr>
              <a:t> owns real estate.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160520"/>
            <a:ext cx="82296" cy="1965960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361688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A4D3B"/>
                </a:solidFill>
                <a:latin typeface="Georgia"/>
              </a:rPr>
              <a:t>They're financially engaged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37176"/>
            <a:ext cx="2971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$150k–$1M net worth, actively managing money — but time-poor and stitching it together by hand.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416052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4160520"/>
            <a:ext cx="82296" cy="1965960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361688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A4D3B"/>
                </a:solidFill>
                <a:latin typeface="Georgia"/>
              </a:rPr>
              <a:t>They're chronically under-served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837176"/>
            <a:ext cx="2971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Lenders can't see their true cash flow, so they're under-lent despite owning real assets.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6" y="4160520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4160520"/>
            <a:ext cx="82296" cy="1965960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36168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A4D3B"/>
                </a:solidFill>
                <a:latin typeface="Georgia"/>
              </a:rPr>
              <a:t>There are tens of millions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837176"/>
            <a:ext cx="2926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~16M US self-employed, ~11M SMB owners, ~20M individual landlords — a large, growing niche.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9086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9086"/>
                </a:solidFill>
                <a:latin typeface="Calibri"/>
              </a:rPr>
              <a:t>TerraVest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973A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4D3B"/>
                </a:solidFill>
                <a:latin typeface="Georgia"/>
              </a:rPr>
              <a:t>One platform that treats your whole financial life as one organism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564B"/>
                </a:solidFill>
                <a:latin typeface="Calibri"/>
              </a:rPr>
              <a:t>Household + business + property + AI advice — connected, in real time, in one place.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06040"/>
            <a:ext cx="342900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3B"/>
                </a:solidFill>
                <a:latin typeface="Georgia"/>
              </a:rPr>
              <a:t>Net 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09544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Every account in one number, tracked over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60604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606040"/>
            <a:ext cx="342900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7889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3B"/>
                </a:solidFill>
                <a:latin typeface="Georgia"/>
              </a:rPr>
              <a:t>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09544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Real bank &amp; investment linking via Plaid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60604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2606040"/>
            <a:ext cx="342900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7889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3B"/>
                </a:solidFill>
                <a:latin typeface="Georgia"/>
              </a:rPr>
              <a:t>Budgets &amp; debt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209544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Budgets, goals, and avalanche/snowball payoff plans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0624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206240"/>
            <a:ext cx="342900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389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3B"/>
                </a:solidFill>
                <a:latin typeface="Georgia"/>
              </a:rPr>
              <a:t>Real estate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09744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Properties, valuations, and a sponsor Deal Room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420624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4206240"/>
            <a:ext cx="342900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389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3B"/>
                </a:solidFill>
                <a:latin typeface="Georgia"/>
              </a:rPr>
              <a:t>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809744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P&amp;L, invoices and expenses (QuickBooks-style)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420624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4206240"/>
            <a:ext cx="342900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4389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4D3B"/>
                </a:solidFill>
                <a:latin typeface="Georgia"/>
              </a:rPr>
              <a:t>AI advisor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809744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Chat &amp; insights grounded in your real numbers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9086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9086"/>
                </a:solidFill>
                <a:latin typeface="Calibri"/>
              </a:rPr>
              <a:t>TerraVest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973A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4D3B"/>
                </a:solidFill>
                <a:latin typeface="Georgia"/>
              </a:rPr>
              <a:t>Three steps to a complete financial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65176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926080"/>
            <a:ext cx="777240" cy="777240"/>
          </a:xfrm>
          <a:prstGeom prst="ellipse">
            <a:avLst/>
          </a:prstGeom>
          <a:solidFill>
            <a:srgbClr val="1A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92608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0C878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862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4D3B"/>
                </a:solidFill>
                <a:latin typeface="Georgia"/>
              </a:rPr>
              <a:t>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434840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0564B"/>
                </a:solidFill>
                <a:latin typeface="Calibri"/>
              </a:rPr>
              <a:t>Securely connect bank, investment, business and property accounts — bank-grade, encrypted, with multi-factor login. No manual spreadsheets.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379476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9973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65176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80" y="2926080"/>
            <a:ext cx="777240" cy="777240"/>
          </a:xfrm>
          <a:prstGeom prst="ellipse">
            <a:avLst/>
          </a:prstGeom>
          <a:solidFill>
            <a:srgbClr val="1A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92608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0C878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8862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4D3B"/>
                </a:solidFill>
                <a:latin typeface="Georgia"/>
              </a:rPr>
              <a:t>Unify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434840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0564B"/>
                </a:solidFill>
                <a:latin typeface="Calibri"/>
              </a:rPr>
              <a:t>TerraVest merges it into one live view: net worth, cash flow, business P&amp;L, property values and debt — automatically kept in sync.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79476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9973A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65176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66760" y="2926080"/>
            <a:ext cx="777240" cy="777240"/>
          </a:xfrm>
          <a:prstGeom prst="ellipse">
            <a:avLst/>
          </a:prstGeom>
          <a:solidFill>
            <a:srgbClr val="1A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92608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0C878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8862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4D3B"/>
                </a:solidFill>
                <a:latin typeface="Georgia"/>
              </a:rPr>
              <a:t>Advise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34840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0564B"/>
                </a:solidFill>
                <a:latin typeface="Calibri"/>
              </a:rPr>
              <a:t>An AI advisor reads your combined numbers and answers real questions — "how much should I set aside for taxes?" — plus proactive insights.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9086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9086"/>
                </a:solidFill>
                <a:latin typeface="Calibri"/>
              </a:rPr>
              <a:t>TerraVest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973A"/>
                </a:solidFill>
                <a:latin typeface="Calibri"/>
              </a:rPr>
              <a:t>FEATURE SPOTLIGHT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4D3B"/>
                </a:solidFill>
                <a:latin typeface="Georgia"/>
              </a:rPr>
              <a:t>Your money, finally in one honest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Consolidated net worth. </a:t>
            </a:r>
            <a:r>
              <a:rPr sz="1500">
                <a:solidFill>
                  <a:srgbClr val="40564B"/>
                </a:solidFill>
                <a:latin typeface="Calibri"/>
              </a:rPr>
              <a:t>Every linked account rolls up into one figure, tracked over time — no fake or sample data, ever.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Accounts &amp; transactions. </a:t>
            </a:r>
            <a:r>
              <a:rPr sz="1500">
                <a:solidFill>
                  <a:srgbClr val="40564B"/>
                </a:solidFill>
                <a:latin typeface="Calibri"/>
              </a:rPr>
              <a:t>Real bank and brokerage linking via Plaid; balances and categorized transactions flow in automatically.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Budgets &amp; goals. </a:t>
            </a:r>
            <a:r>
              <a:rPr sz="1500">
                <a:solidFill>
                  <a:srgbClr val="40564B"/>
                </a:solidFill>
                <a:latin typeface="Calibri"/>
              </a:rPr>
              <a:t>Set budgets, track progress, and plan savings goals against real spending.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Debt Lab. </a:t>
            </a:r>
            <a:r>
              <a:rPr sz="1500">
                <a:solidFill>
                  <a:srgbClr val="40564B"/>
                </a:solidFill>
                <a:latin typeface="Calibri"/>
              </a:rPr>
              <a:t>Model avalanche, snowball, and hybrid payoff strategies with an accurate per-debt timeline and "pay this off first" guidance.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Bill pay. </a:t>
            </a:r>
            <a:r>
              <a:rPr sz="1500">
                <a:solidFill>
                  <a:srgbClr val="40564B"/>
                </a:solidFill>
                <a:latin typeface="Calibri"/>
              </a:rPr>
              <a:t>Initiate and track payments from inside the 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60" y="2651760"/>
            <a:ext cx="4389120" cy="3383280"/>
          </a:xfrm>
          <a:prstGeom prst="rect">
            <a:avLst/>
          </a:prstGeom>
          <a:solidFill>
            <a:srgbClr val="1A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288036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C878"/>
                </a:solidFill>
                <a:latin typeface="Calibri"/>
              </a:rPr>
              <a:t>Why it helps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3383280"/>
            <a:ext cx="3886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You stop guessing. </a:t>
            </a:r>
            <a:r>
              <a:rPr sz="1550" b="0">
                <a:solidFill>
                  <a:srgbClr val="EAF3EE"/>
                </a:solidFill>
                <a:latin typeface="Calibri"/>
              </a:rPr>
              <a:t>One number answers "where do I stand?" in seconds instead of an afternoon.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You pay less to debt. </a:t>
            </a:r>
            <a:r>
              <a:rPr sz="1550" b="0">
                <a:solidFill>
                  <a:srgbClr val="EAF3EE"/>
                </a:solidFill>
                <a:latin typeface="Calibri"/>
              </a:rPr>
              <a:t>The payoff planner shows exactly which balance to attack first and when you'll be 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9086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9086"/>
                </a:solidFill>
                <a:latin typeface="Calibri"/>
              </a:rPr>
              <a:t>TerraVest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973A"/>
                </a:solidFill>
                <a:latin typeface="Calibri"/>
              </a:rPr>
              <a:t>FEATURE SPOTLIGHT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4D3B"/>
                </a:solidFill>
                <a:latin typeface="Georgia"/>
              </a:rPr>
              <a:t>Real estate, treated like the asset class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Property tracking. </a:t>
            </a:r>
            <a:r>
              <a:rPr sz="1500">
                <a:solidFill>
                  <a:srgbClr val="40564B"/>
                </a:solidFill>
                <a:latin typeface="Calibri"/>
              </a:rPr>
              <a:t>Add properties and get up-to-date valuations and rent estimates (RentCast), tied into your net worth.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Deal Room. </a:t>
            </a:r>
            <a:r>
              <a:rPr sz="1500">
                <a:solidFill>
                  <a:srgbClr val="40564B"/>
                </a:solidFill>
                <a:latin typeface="Calibri"/>
              </a:rPr>
              <a:t>A marketplace of real-estate sponsor deals — watch, express interest, and review sponsor track records.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Compare vs. your bank. </a:t>
            </a:r>
            <a:r>
              <a:rPr sz="1500">
                <a:solidFill>
                  <a:srgbClr val="40564B"/>
                </a:solidFill>
                <a:latin typeface="Calibri"/>
              </a:rPr>
              <a:t>See a deal's projected return against the idle cash in your linked accounts, so you can judge it in context.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Fractional LLC. </a:t>
            </a:r>
            <a:r>
              <a:rPr sz="1500">
                <a:solidFill>
                  <a:srgbClr val="40564B"/>
                </a:solidFill>
                <a:latin typeface="Calibri"/>
              </a:rPr>
              <a:t>Tools for co-owning property through an LLC 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60" y="2651760"/>
            <a:ext cx="4389120" cy="3383280"/>
          </a:xfrm>
          <a:prstGeom prst="rect">
            <a:avLst/>
          </a:prstGeom>
          <a:solidFill>
            <a:srgbClr val="1A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288036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C878"/>
                </a:solidFill>
                <a:latin typeface="Calibri"/>
              </a:rPr>
              <a:t>Why it helps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3383280"/>
            <a:ext cx="3886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Your biggest asset stops being invisible. </a:t>
            </a:r>
            <a:r>
              <a:rPr sz="1550" b="0">
                <a:solidFill>
                  <a:srgbClr val="EAF3EE"/>
                </a:solidFill>
                <a:latin typeface="Calibri"/>
              </a:rPr>
              <a:t>Home and rental equity finally count toward your real wealth picture.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You invest with context. </a:t>
            </a:r>
            <a:r>
              <a:rPr sz="1550" b="0">
                <a:solidFill>
                  <a:srgbClr val="EAF3EE"/>
                </a:solidFill>
                <a:latin typeface="Calibri"/>
              </a:rPr>
              <a:t>Weigh a new deal against your actual cash and returns — not a gut feel.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9086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9086"/>
                </a:solidFill>
                <a:latin typeface="Calibri"/>
              </a:rPr>
              <a:t>TerraVest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973A"/>
                </a:solidFill>
                <a:latin typeface="Calibri"/>
              </a:rPr>
              <a:t>FEATURE SPOTLIGHT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4D3B"/>
                </a:solidFill>
                <a:latin typeface="Georgia"/>
              </a:rPr>
              <a:t>Your business and an AI advisor, side by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651760"/>
            <a:ext cx="5257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651760"/>
            <a:ext cx="82296" cy="3291840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852928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A4D3B"/>
                </a:solidFill>
                <a:latin typeface="Georgia"/>
              </a:rPr>
              <a:t>Business financials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328415"/>
            <a:ext cx="48006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Connect your business (QuickBooks-style) to see P&amp;L, invoices and expenses right next to your personal finances. For the self-employed, the line between "the business" and "me" is blurry — TerraVest is the first place both live together, so you can see your true, combined cash 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2651760"/>
            <a:ext cx="52303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2651760"/>
            <a:ext cx="82296" cy="3291840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52928"/>
            <a:ext cx="4773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A4D3B"/>
                </a:solidFill>
                <a:latin typeface="Georgia"/>
              </a:rPr>
              <a:t>AI advisor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28415"/>
            <a:ext cx="4773168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Chat with an assistant grounded in your real numbers, and get proactive insights. Ask "how much should I set aside for quarterly taxes?" or "can I afford this property?" and get an answer based on your actual data — advice the wealthy pay an advisor for, available to everyone.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9086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9086"/>
                </a:solidFill>
                <a:latin typeface="Calibri"/>
              </a:rPr>
              <a:t>TerraVest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973A"/>
                </a:solidFill>
                <a:latin typeface="Calibri"/>
              </a:rPr>
              <a:t>TRUST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4D3B"/>
                </a:solidFill>
                <a:latin typeface="Georgia"/>
              </a:rPr>
              <a:t>Bank-grade from day one — because it's your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564B"/>
                </a:solidFill>
                <a:latin typeface="Calibri"/>
              </a:rPr>
              <a:t>In a finance app, trust is the product. TerraVest is engineered for it from the ground 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5176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51760"/>
            <a:ext cx="34290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651760"/>
            <a:ext cx="73152" cy="1417320"/>
          </a:xfrm>
          <a:prstGeom prst="rect">
            <a:avLst/>
          </a:prstGeom>
          <a:solidFill>
            <a:srgbClr val="2D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4D3B"/>
                </a:solidFill>
                <a:latin typeface="Georgia"/>
              </a:rPr>
              <a:t>Multi-factor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36976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Email / SMS one-time codes protect every account.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65176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651760"/>
            <a:ext cx="34290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651760"/>
            <a:ext cx="73152" cy="1417320"/>
          </a:xfrm>
          <a:prstGeom prst="rect">
            <a:avLst/>
          </a:prstGeom>
          <a:solidFill>
            <a:srgbClr val="2D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4D3B"/>
                </a:solidFill>
                <a:latin typeface="Georgia"/>
              </a:rPr>
              <a:t>Encrypted sensitive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236976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SSN/EIN and account tokens encrypted at rest.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65176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651760"/>
            <a:ext cx="34290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2651760"/>
            <a:ext cx="73152" cy="1417320"/>
          </a:xfrm>
          <a:prstGeom prst="rect">
            <a:avLst/>
          </a:prstGeom>
          <a:solidFill>
            <a:srgbClr val="2D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83464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4D3B"/>
                </a:solidFill>
                <a:latin typeface="Georgia"/>
              </a:rPr>
              <a:t>Tamper-evident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236976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Every change recorded in a hash-chained log you can verify.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233672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233672"/>
            <a:ext cx="34290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233672"/>
            <a:ext cx="73152" cy="1417320"/>
          </a:xfrm>
          <a:prstGeom prst="rect">
            <a:avLst/>
          </a:prstGeom>
          <a:solidFill>
            <a:srgbClr val="2D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41655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4D3B"/>
                </a:solidFill>
                <a:latin typeface="Georgia"/>
              </a:rPr>
              <a:t>No fake data, ever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818888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Real numbers only — a strict rule in a finance product.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233672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4233672"/>
            <a:ext cx="34290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4233672"/>
            <a:ext cx="73152" cy="1417320"/>
          </a:xfrm>
          <a:prstGeom prst="rect">
            <a:avLst/>
          </a:prstGeom>
          <a:solidFill>
            <a:srgbClr val="2D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41655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4D3B"/>
                </a:solidFill>
                <a:latin typeface="Georgia"/>
              </a:rPr>
              <a:t>Login history &amp; devices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818888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See where and when your account was accessed.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4233672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79" y="4233672"/>
            <a:ext cx="34290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79" y="4233672"/>
            <a:ext cx="73152" cy="1417320"/>
          </a:xfrm>
          <a:prstGeom prst="rect">
            <a:avLst/>
          </a:prstGeom>
          <a:solidFill>
            <a:srgbClr val="2D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441655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4D3B"/>
                </a:solidFill>
                <a:latin typeface="Georgia"/>
              </a:rPr>
              <a:t>Export &amp; delete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818888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Download all your data or delete your account, any time.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9086"/>
                </a:solidFill>
                <a:latin typeface="Calibr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9086"/>
                </a:solidFill>
                <a:latin typeface="Calibri"/>
              </a:rPr>
              <a:t>TerraVest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0C878"/>
                </a:solidFill>
                <a:latin typeface="Calibri"/>
              </a:rPr>
              <a:t>THE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What changes for the people who use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691640"/>
            <a:ext cx="822960" cy="54864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3429000" cy="1783080"/>
          </a:xfrm>
          <a:prstGeom prst="rect">
            <a:avLst/>
          </a:prstGeom>
          <a:solidFill>
            <a:srgbClr val="0E3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342900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368296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C878"/>
                </a:solidFill>
                <a:latin typeface="Georgia"/>
              </a:rPr>
              <a:t>Clarity in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862072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AF3EE"/>
                </a:solidFill>
                <a:latin typeface="Calibri"/>
              </a:rPr>
              <a:t>One trusted view replaces an afternoon of logins and spreadsheets.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48840"/>
            <a:ext cx="3429000" cy="1783080"/>
          </a:xfrm>
          <a:prstGeom prst="rect">
            <a:avLst/>
          </a:prstGeom>
          <a:solidFill>
            <a:srgbClr val="0E3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148840"/>
            <a:ext cx="342900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368296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C878"/>
                </a:solidFill>
                <a:latin typeface="Georgia"/>
              </a:rPr>
              <a:t>Fewer missed dollars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862072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AF3EE"/>
                </a:solidFill>
                <a:latin typeface="Calibri"/>
              </a:rPr>
              <a:t>Catch deductions, overpaid debt, and idle cash you couldn't see before.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148840"/>
            <a:ext cx="3429000" cy="1783080"/>
          </a:xfrm>
          <a:prstGeom prst="rect">
            <a:avLst/>
          </a:prstGeom>
          <a:solidFill>
            <a:srgbClr val="0E3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2148840"/>
            <a:ext cx="342900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1" y="2368296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C878"/>
                </a:solidFill>
                <a:latin typeface="Georgia"/>
              </a:rPr>
              <a:t>Better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1" y="2862072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AF3EE"/>
                </a:solidFill>
                <a:latin typeface="Calibri"/>
              </a:rPr>
              <a:t>Judge a purchase, a loan, or a deal against your real, combined numbers.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114800"/>
            <a:ext cx="3429000" cy="1783080"/>
          </a:xfrm>
          <a:prstGeom prst="rect">
            <a:avLst/>
          </a:prstGeom>
          <a:solidFill>
            <a:srgbClr val="0E3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114800"/>
            <a:ext cx="342900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334256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C878"/>
                </a:solidFill>
                <a:latin typeface="Georgia"/>
              </a:rPr>
              <a:t>Stronger borrowing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828032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AF3EE"/>
                </a:solidFill>
                <a:latin typeface="Calibri"/>
              </a:rPr>
              <a:t>A clear cash-flow picture makes you legible to lenders.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114800"/>
            <a:ext cx="3429000" cy="1783080"/>
          </a:xfrm>
          <a:prstGeom prst="rect">
            <a:avLst/>
          </a:prstGeom>
          <a:solidFill>
            <a:srgbClr val="0E3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4114800"/>
            <a:ext cx="342900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4334256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C878"/>
                </a:solidFill>
                <a:latin typeface="Georgia"/>
              </a:rPr>
              <a:t>Less stress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4828032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AF3EE"/>
                </a:solidFill>
                <a:latin typeface="Calibri"/>
              </a:rPr>
              <a:t>Tax season and big decisions stop being a scramble.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4114800"/>
            <a:ext cx="3429000" cy="1783080"/>
          </a:xfrm>
          <a:prstGeom prst="rect">
            <a:avLst/>
          </a:prstGeom>
          <a:solidFill>
            <a:srgbClr val="0E3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4114800"/>
            <a:ext cx="342900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1" y="4334256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0C878"/>
                </a:solidFill>
                <a:latin typeface="Georgia"/>
              </a:rPr>
              <a:t>One financial home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1" y="4828032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AF3EE"/>
                </a:solidFill>
                <a:latin typeface="Calibri"/>
              </a:rPr>
              <a:t>Personal, business and property — no more mental juggling.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973A"/>
                </a:solidFill>
                <a:latin typeface="Calibri"/>
              </a:rPr>
              <a:t>EVERYWHERE YOU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4D3B"/>
                </a:solidFill>
                <a:latin typeface="Georgia"/>
              </a:rPr>
              <a:t>One product, three platforms, always in 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564B"/>
                </a:solidFill>
                <a:latin typeface="Calibri"/>
              </a:rPr>
              <a:t>TerraVest ships to web, iOS and Android from a single codebase — install it like an app, on anything.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3383280" cy="457200"/>
          </a:xfrm>
          <a:prstGeom prst="rect">
            <a:avLst/>
          </a:prstGeom>
          <a:solidFill>
            <a:srgbClr val="1A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Web app (PWA)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0564B"/>
                </a:solidFill>
                <a:latin typeface="Calibri"/>
              </a:rPr>
              <a:t>Full-featured in any browser; installable to your desktop or home screen.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69748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697480"/>
            <a:ext cx="3383280" cy="457200"/>
          </a:xfrm>
          <a:prstGeom prst="rect">
            <a:avLst/>
          </a:prstGeom>
          <a:solidFill>
            <a:srgbClr val="1A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97480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8328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0564B"/>
                </a:solidFill>
                <a:latin typeface="Calibri"/>
              </a:rPr>
              <a:t>A native app wrapper around the same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69748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697480"/>
            <a:ext cx="3383280" cy="457200"/>
          </a:xfrm>
          <a:prstGeom prst="rect">
            <a:avLst/>
          </a:prstGeom>
          <a:solidFill>
            <a:srgbClr val="1A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697480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Android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2834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0564B"/>
                </a:solidFill>
                <a:latin typeface="Calibri"/>
              </a:rPr>
              <a:t>The same, on Android — no feature gaps between devices.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4D3B"/>
                </a:solidFill>
                <a:latin typeface="Calibri"/>
              </a:rPr>
              <a:t>Available in 9 languages </a:t>
            </a:r>
            <a:r>
              <a:rPr sz="1400" b="0">
                <a:solidFill>
                  <a:srgbClr val="40564B"/>
                </a:solidFill>
                <a:latin typeface="Calibri"/>
              </a:rPr>
              <a:t>(English, Spanish, French, German, Portuguese, Chinese, Hindi, Japanese, Arabic) with light, dark and glass themes.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9086"/>
                </a:solidFill>
                <a:latin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9086"/>
                </a:solidFill>
                <a:latin typeface="Calibri"/>
              </a:rPr>
              <a:t>TerraVest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973A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4D3B"/>
                </a:solidFill>
                <a:latin typeface="Georgia"/>
              </a:rPr>
              <a:t>Serious engineering behind a simple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564B"/>
                </a:solidFill>
                <a:latin typeface="Calibri"/>
              </a:rPr>
              <a:t>A modern, cloud-native architecture built to scale and to be trusted with real financial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11 microservices. </a:t>
            </a:r>
            <a:r>
              <a:rPr sz="1500">
                <a:solidFill>
                  <a:srgbClr val="40564B"/>
                </a:solidFill>
                <a:latin typeface="Calibri"/>
              </a:rPr>
              <a:t>Independent Java/Spring services (auth, accounts, real estate, business, AI, payments and more) behind one secure gateway.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React front-end. </a:t>
            </a:r>
            <a:r>
              <a:rPr sz="1500">
                <a:solidFill>
                  <a:srgbClr val="40564B"/>
                </a:solidFill>
                <a:latin typeface="Calibri"/>
              </a:rPr>
              <a:t>A fast, modern web app with a single, consistent design system.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Real integrations. </a:t>
            </a:r>
            <a:r>
              <a:rPr sz="1500">
                <a:solidFill>
                  <a:srgbClr val="40564B"/>
                </a:solidFill>
                <a:latin typeface="Calibri"/>
              </a:rPr>
              <a:t>Plaid, Stripe, QuickBooks, RentCast, SendGrid/Twilio, and Claude / Gemini AI.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Cloud-native &amp; observable. </a:t>
            </a:r>
            <a:r>
              <a:rPr sz="1500">
                <a:solidFill>
                  <a:srgbClr val="40564B"/>
                </a:solidFill>
                <a:latin typeface="Calibri"/>
              </a:rPr>
              <a:t>Postgres per service, automated deploys, metrics and correlation tracing throughout.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C9973A"/>
                </a:solidFill>
                <a:latin typeface="Calibri"/>
              </a:rPr>
              <a:t>▪  </a:t>
            </a:r>
            <a:r>
              <a:rPr sz="1500" b="1">
                <a:solidFill>
                  <a:srgbClr val="111D17"/>
                </a:solidFill>
                <a:latin typeface="Calibri"/>
              </a:rPr>
              <a:t>Live in production. </a:t>
            </a:r>
            <a:r>
              <a:rPr sz="1500">
                <a:solidFill>
                  <a:srgbClr val="40564B"/>
                </a:solidFill>
                <a:latin typeface="Calibri"/>
              </a:rPr>
              <a:t>Deployed, healthy, and running today at app.terravest.app.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651760"/>
            <a:ext cx="4297680" cy="3383280"/>
          </a:xfrm>
          <a:prstGeom prst="rect">
            <a:avLst/>
          </a:prstGeom>
          <a:solidFill>
            <a:srgbClr val="1A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926080"/>
            <a:ext cx="384048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0C878"/>
                </a:solidFill>
                <a:latin typeface="Calibri"/>
              </a:rPr>
              <a:t>Every integration ships with a working offline mock, </a:t>
            </a:r>
            <a:r>
              <a:rPr sz="1500" b="0">
                <a:solidFill>
                  <a:srgbClr val="EAF3EE"/>
                </a:solidFill>
                <a:latin typeface="Calibri"/>
              </a:rPr>
              <a:t>so the app is fully usable on day one and each real provider is switched on independently, one at a time.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That means it's stable to demo, safe to onboard, and cheap to operate while it grows.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9086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9086"/>
                </a:solidFill>
                <a:latin typeface="Calibri"/>
              </a:rPr>
              <a:t>TerraVest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973A"/>
                </a:solidFill>
                <a:latin typeface="Calibri"/>
              </a:rPr>
              <a:t>WHERE IT'S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4D3B"/>
                </a:solidFill>
                <a:latin typeface="Georgia"/>
              </a:rPr>
              <a:t>From trusted dashboard to financial home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3383280" cy="502920"/>
          </a:xfrm>
          <a:prstGeom prst="rect">
            <a:avLst/>
          </a:prstGeom>
          <a:solidFill>
            <a:srgbClr val="1A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A4D3B"/>
                </a:solidFill>
                <a:latin typeface="Georgia"/>
              </a:rPr>
              <a:t>Trusted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2834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0564B"/>
                </a:solidFill>
                <a:latin typeface="Calibri"/>
              </a:rPr>
              <a:t>A complete, honest picture of household + business + property. Live 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379476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973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74320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743200"/>
            <a:ext cx="3383280" cy="502920"/>
          </a:xfrm>
          <a:prstGeom prst="rect">
            <a:avLst/>
          </a:prstGeom>
          <a:solidFill>
            <a:srgbClr val="2D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429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A4D3B"/>
                </a:solidFill>
                <a:latin typeface="Georgia"/>
              </a:rPr>
              <a:t>Advice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023360"/>
            <a:ext cx="2834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0564B"/>
                </a:solidFill>
                <a:latin typeface="Calibri"/>
              </a:rPr>
              <a:t>A proactive AI advisor and tax/cash-flow tools tuned to the self-employed niche.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79476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973A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74320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743200"/>
            <a:ext cx="3383280" cy="502920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74320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3326"/>
                </a:solidFill>
                <a:latin typeface="Calibri"/>
              </a:rPr>
              <a:t>THEN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29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A4D3B"/>
                </a:solidFill>
                <a:latin typeface="Georgia"/>
              </a:rPr>
              <a:t>Financial 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23360"/>
            <a:ext cx="2834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0564B"/>
                </a:solidFill>
                <a:latin typeface="Calibri"/>
              </a:rPr>
              <a:t>Lending, cash management and advisory — priced on a cash-flow picture no one else has.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4D3B"/>
                </a:solidFill>
                <a:latin typeface="Georgia"/>
              </a:rPr>
              <a:t>The dashboard earns the trust. </a:t>
            </a:r>
            <a:r>
              <a:rPr sz="1500" b="0">
                <a:solidFill>
                  <a:srgbClr val="40564B"/>
                </a:solidFill>
                <a:latin typeface="Calibri"/>
              </a:rPr>
              <a:t>The trust unlocks the products. That's the path from a useful app to a financial institution.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9086"/>
                </a:solidFill>
                <a:latin typeface="Calibr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9086"/>
                </a:solidFill>
                <a:latin typeface="Calibri"/>
              </a:rPr>
              <a:t>TerraVest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973A"/>
                </a:solidFill>
                <a:latin typeface="Calibri"/>
              </a:rPr>
              <a:t>IN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4D3B"/>
                </a:solidFill>
                <a:latin typeface="Georgia"/>
              </a:rPr>
              <a:t>Why TerraVest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72768"/>
            <a:ext cx="822960" cy="54864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514600"/>
            <a:ext cx="10561320" cy="1143000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10058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4D3B"/>
                </a:solidFill>
                <a:latin typeface="Georgia"/>
              </a:rPr>
              <a:t>The self-employed with real estate have never had a financial tool that sees all of them. </a:t>
            </a:r>
            <a:r>
              <a:rPr sz="1800" b="0">
                <a:solidFill>
                  <a:srgbClr val="111D17"/>
                </a:solidFill>
                <a:latin typeface="Calibri"/>
              </a:rPr>
              <a:t>TerraVest is that tool — and it's already 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260604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1605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4D3B"/>
                </a:solidFill>
                <a:latin typeface="Georgia"/>
              </a:rPr>
              <a:t>A real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1772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Tens of millions live a two-ledger life no app reconciles.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977639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3977639"/>
            <a:ext cx="260604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41605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4D3B"/>
                </a:solidFill>
                <a:latin typeface="Georgia"/>
              </a:rPr>
              <a:t>A complete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461772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Personal + business + property + AI, in one trusted place.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977639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3977639"/>
            <a:ext cx="260604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41605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4D3B"/>
                </a:solidFill>
                <a:latin typeface="Georgia"/>
              </a:rPr>
              <a:t>A built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461772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11 services, 3 platforms, bank-grade security — live today.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3977639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3977639"/>
            <a:ext cx="2606040" cy="6400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41605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4D3B"/>
                </a:solidFill>
                <a:latin typeface="Georgia"/>
              </a:rPr>
              <a:t>A big future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461772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0564B"/>
                </a:solidFill>
                <a:latin typeface="Calibri"/>
              </a:rPr>
              <a:t>From dashboard, to advice, to financial products.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9086"/>
                </a:solidFill>
                <a:latin typeface="Calibri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9086"/>
                </a:solidFill>
                <a:latin typeface="Calibri"/>
              </a:rPr>
              <a:t>TerraVest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1828800"/>
            <a:ext cx="5943600" cy="5943600"/>
          </a:xfrm>
          <a:prstGeom prst="ellipse">
            <a:avLst/>
          </a:prstGeom>
          <a:solidFill>
            <a:srgbClr val="0E3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8229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0140" y="905256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8686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TerraVest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9875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Georgia"/>
              </a:rPr>
              <a:t>The financial home for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0C878"/>
                </a:solidFill>
                <a:latin typeface="Georgia"/>
              </a:rPr>
              <a:t>America's owner-operators.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34340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AF3EE"/>
                </a:solidFill>
                <a:latin typeface="Calibri"/>
              </a:rPr>
              <a:t>Start as the dashboard they can finally trust. Become the place they bank, borrow and build wealth.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5577840"/>
            <a:ext cx="548640" cy="41148"/>
          </a:xfrm>
          <a:prstGeom prst="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0C878"/>
                </a:solidFill>
                <a:latin typeface="Calibri"/>
              </a:rPr>
              <a:t>See it live  →  </a:t>
            </a:r>
            <a:r>
              <a:rPr sz="1600" b="1">
                <a:solidFill>
                  <a:srgbClr val="FFFFFF"/>
                </a:solidFill>
                <a:latin typeface="Calibri"/>
              </a:rPr>
              <a:t>app.terravest.app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