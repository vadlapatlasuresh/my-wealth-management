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SHARE YOUR SCREEN YET.</a:t>
            </a:r>
          </a:p>
          <a:p/>
          <a:p>
            <a:r>
              <a:t>Deliver the problem first (next 3 slides), then open the app. The dashboard is far more impressive to someone who has just been made to feel the mess it replaces.</a:t>
            </a:r>
          </a:p>
          <a:p/>
          <a:p>
            <a:r>
              <a:t>Full walkthrough ~25 min. Short version: features 1, 11, 12, 13, 14, 25, 26, 29-31, 34.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on screen for 15 seconds. It sets expectations and buys you permission to move fast through the early sections.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OPENING STORY. Deliver this slowly, no screen share yet.</a:t>
            </a:r>
          </a:p>
          <a:p/>
          <a:p>
            <a:r>
              <a:t>'Let me describe a real customer. Her name is Maria. She's a contractor.</a:t>
            </a:r>
          </a:p>
          <a:p/>
          <a:p>
            <a:r>
              <a:t>She has an LLC. She takes 1099 work. She owns three rental properties. And she files taxes jointly with her husband, who has a normal job.</a:t>
            </a:r>
          </a:p>
          <a:p/>
          <a:p>
            <a:r>
              <a:t>Now ask Maria a simple question. How much are you worth?</a:t>
            </a:r>
          </a:p>
          <a:p/>
          <a:p>
            <a:r>
              <a:t>She can't answer it. Not because she's bad with money - she's very good with money. But the answer is split across four systems that don't talk to each other. To find it, she needs an afternoon and a spreadsheet.</a:t>
            </a:r>
          </a:p>
          <a:p/>
          <a:p>
            <a:r>
              <a:t>And every March she spends a weekend collecting receipts, bank statements, and property numbers into a folder for her accountant - then pays that accountant professional rates to type it in.</a:t>
            </a:r>
          </a:p>
          <a:p/>
          <a:p>
            <a:r>
              <a:t>That's the problem. Not that the tools are bad. It's that no tool covers her whole life. So she does the joining by hand. Forever.'</a:t>
            </a:r>
          </a:p>
          <a:p/>
          <a:p>
            <a:r>
              <a:t>THEN PAUSE.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fast lines - don't labour it:</a:t>
            </a:r>
          </a:p>
          <a:p/>
          <a:p>
            <a:r>
              <a:t>'Mint's built for someone with a paycheck. QuickBooks is built for a bookkeeper. Property apps only do property. So she uses a spreadsheet - and a spreadsheet is always out of date.'</a:t>
            </a:r>
          </a:p>
          <a:p/>
          <a:p>
            <a:r>
              <a:t>THEN THE TURN: 'Nobody serves the person who has all three. That's who we built for.'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whichever of the three lands with this particular room. For users, cost 2 and 3 hit hardest. For investors, cost 1 frames the market.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from problem to product. Now open the app.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investors: this is not a prototype. It's live, it's deployed, it's monitored, and the revenue model is already built and running with feature gating live.</a:t>
            </a:r>
          </a:p>
          <a:p/>
          <a:p>
            <a:r>
              <a:t>Don't read every number - point at two or three.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on, one slide per feature. Steps on the left, your line on the right and in these notes.</a:t>
            </a:r>
          </a:p>
          <a:p/>
          <a:p>
            <a:r>
              <a:t>If short on time run: 1, 11, 12, 13, 14, 25, 26, 29, 30, 31, 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Memorise this list. If the call runs short or the room gets restless, jump straight to feature 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this module BRISK. It establishes competence but it's not your differentiation. Only feature 1 gets real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number. Everything she owns minus everything she owes. This used to take her an afternoon. Now it's the home screen. And it doesn't just show the number — it shows why it changed.</a:t>
            </a:r>
          </a:p>
          <a:p/>
          <a:p>
            <a:r>
              <a:t>BONUS: if net worth drops &gt;15% the chart shifts to a warning palette automatically. Mention it; don't try to trigger it live.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how her money gets in. She picks her bank, logs in on the bank's own secure screen, and we never see her password. Balances and transactions flow from there.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transaction, filterable. And she can re-categorize anything — which matters, because these categories feed her budgets and her tax numbers later.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she planned to spend, against what she actually spent — and it tells her when she's over.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Avalanche is cheapest. Snowball is fastest to feel like progress. It compares them side by side, models paying extra, and recommends one. Most apps show you your debt. This one tells you what to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Set a target, and it works out exactly what she needs to put away each month to hit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quick math, built in — so she isn't opening a browser tab mid-decision.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 investments — including alternatives, which matters for this customer, because a lot of their wealth isn't in a normal brokerage account.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she actually has liquid — and it flags accounts that have gone stale, so the number stays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Who she's paying, how much, from which account, and when. It's built to be safe — double-click and it won't pay twice, and she can cancel before it goes out.</a:t>
            </a:r>
          </a:p>
          <a:p/>
          <a:p>
            <a:r>
              <a:t>Say 'scheduled' or 'submitted' - not 'the money has gone'.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This is your strongest module and features 12-14 are the strongest sequence in the entire demo.</a:t>
            </a:r>
          </a:p>
          <a:p/>
          <a:p>
            <a:r>
              <a:t>TRANSITION IN: 'That's her personal money - and honestly, other apps do a version of that. Here's what nobody else does.'</a:t>
            </a:r>
          </a:p>
          <a:p/>
          <a:p>
            <a:r>
              <a:t>WARNING: My Business is behind a FeatureGate. Confirm your demo account renders the real page, not an upgrade prompt.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Here's where we're different from every other money app. This is her LLC as its own set of books, completely separate from her personal money. Three companies means three sets of books, plus a combined view.</a:t>
            </a:r>
          </a:p>
          <a:p/>
          <a:p>
            <a:r>
              <a:t>TRANSITION IN: 'That's her personal money - and other apps do a version of that. Here's what nobody else does.'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 90-day cash forecast. It's telling her that in about nine weeks, she runs tight. Most business owners find out they have a cash problem when the money is already gone. This tells her while she can still do something about it. That's the difference between a dashboard and a decision.</a:t>
            </a:r>
          </a:p>
          <a:p/>
          <a:p>
            <a:r>
              <a:t>THE SINGLE MOST IMPORTANT MOMENT IN THE DEMO.</a:t>
            </a:r>
          </a:p>
          <a:p/>
          <a:p>
            <a:r>
              <a:t>After 'she runs tight in nine weeks', STOP TALKING FOR TWO SECONDS. The silence does the work. Business owners have a physical reaction to this screen.</a:t>
            </a:r>
          </a:p>
          <a:p/>
          <a:p>
            <a:r>
              <a:t>Rehearse this out loud twice before the call.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it shows her why. These are her unpaid invoices, sorted by how late they are. This one is 60 days overdue. That's her cash problem, sitting right there.</a:t>
            </a:r>
          </a:p>
          <a:p/>
          <a:p>
            <a:r>
              <a:t>TRANSITION: 'And it doesn't just warn her. It shows her WHY.'</a:t>
            </a:r>
          </a:p>
          <a:p/>
          <a:p>
            <a:r>
              <a:t>This needs genuinely overdue invoices in the demo account or there's nothing 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click just chased every overdue invoice. Her customer gets a link, opens a payment page, and pays. When the money lands, it matches back against her bank transaction automatically. Problem, reason, and fix — one screen, three clicks. Not a report. A decision.</a:t>
            </a:r>
          </a:p>
          <a:p/>
          <a:p>
            <a:r>
              <a:t>Have a second browser profile ready so you can show the customer's view of the invoice page. Far more convincing than describing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 business ledger — bank data and anything she enters by hand, in one place, for whatever period she's looking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business expense, dated, categorized, and tied back to the real transaction — so at tax time there's nothing to reconstruct.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Business cards tracked separately from personal — which sounds obvious, and is exactly what gets messy when you're running both from one wallet.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she planned to spend in the business, against what she actually spent.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cash reserve, and a tax set-aside — so the tax money is put away before she spends it. Every self-employed person has learned that lesson the hard way.</a:t>
            </a:r>
          </a:p>
          <a:p/>
          <a:p>
            <a:r>
              <a:t>The 'learned that lesson the hard way' line gets a laugh of recognition from self-employed audiences. Pause after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Everyone she pays, what she pays them, and a warning before a contract auto-renews.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spots subscriptions and repeat charges by itself. And on the income side, it learns which customers actually pay on time — which is worth knowing before you take the next job.</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Profit and loss, balance sheet, cash flow — the three statements her accountant will ask for, exportable as a spreadsheet or a PDF.</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Per-business folders, and receipts attached to the invoices they belong to.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if she already keeps books in QuickBooks, it imports — she isn't starting over.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'That's the business. Now the third piece - the properties.'</a:t>
            </a:r>
          </a:p>
          <a:p/>
          <a:p>
            <a:r>
              <a:t>Steady pace. This module exists to set up the tax module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 three rentals. What each is worth, what she still owes, and the equity she actually has — plus the yield, so she can see which property is genuinely earning.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repair, insurance bill, property tax payment, and management fee — dated and categorized, all year long. This is the part that usually lives in a shoebox.</a:t>
            </a:r>
          </a:p>
          <a:p/>
          <a:p>
            <a:r>
              <a:t>TRANSITION OUT: 'Now - why does all this property detail matter so much? Because of what it unlocks.' Then go to Tax.</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When she wants to put money to work — deals from sponsors, with the sponsor's track record visible before she trusts them.</a:t>
            </a:r>
          </a:p>
          <a:p/>
          <a:p>
            <a:r>
              <a:t>FOR INVESTORS ADD: 'This is also a future revenue line - we sit between sponsors and qualified investors whose financial picture we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she can co-invest in a property alongside other investors, instead of having to buy one outright.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DIFFERENTIATION. Second-slowest module after Business.</a:t>
            </a:r>
          </a:p>
          <a:p/>
          <a:p>
            <a:r>
              <a:t>TRANSITION IN: 'Now - why does all that property detail matter so much? Because of what it unlocks.'</a:t>
            </a:r>
          </a:p>
          <a:p/>
          <a:p>
            <a:r>
              <a:t>Feature 30 is the one nobody else can show. Do not rush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her tax picture — live all year, not just in April. Her filing status, her husband's W-2, her 1099 income from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Cost basis and land value — that's depreciation. Every rental owner can deduct part of the building's value every single year. And prior-year suspended loss — when a rental loses money, that loss doesn't disappear. It carries forward. Most people forget it exists and never claim it.</a:t>
            </a:r>
          </a:p>
          <a:p/>
          <a:p>
            <a:r>
              <a:t>SLOW RIGHT DOWN HERE. Explain what each term IS - most people in the room won't know, and teaching them something is what makes the product feel expert rather than pretty.</a:t>
            </a:r>
          </a:p>
          <a:p/>
          <a:p>
            <a:r>
              <a:t>This is one of the three moments to rehearse out loud.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tells her what she's missing. The 20% QBI deduction on her business income. Her quarterly estimates. Energy credits. A normal budgeting app has no idea any of these exist — and these are exactly the deductions this customer has.</a:t>
            </a:r>
          </a:p>
          <a:p/>
          <a:p>
            <a:r>
              <a:t>THE LINE THAT LANDS THE MODULE:</a:t>
            </a:r>
          </a:p>
          <a:p/>
          <a:p>
            <a:r>
              <a:t>'This screen is the difference between an app that watches your money and an app that UNDERSTANDS your money.'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She can photograph a W-2 instead of typing it 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financial document in one place — including the exports the app generates for her automatically.</a:t>
            </a:r>
          </a:p>
          <a:p/>
          <a:p>
            <a:r>
              <a:t>TRANSITION IN: 'And here's how the year ends.'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Remember Maria's weekend of collecting paperwork? This is that — one link. View-only. It expires. It needs a passcode. And she can see exactly when her accountant opened it. Her whole tax year, sent safely, in about ten seconds.</a:t>
            </a:r>
          </a:p>
          <a:p/>
          <a:p>
            <a:r>
              <a:t>THE EMOTIONAL PAYOFF OF THE WHOLE DEMO. Tie it explicitly back to the weekend-with-a-shoebox image from your opening.</a:t>
            </a:r>
          </a:p>
          <a:p/>
          <a:p>
            <a:r>
              <a:t>Third of the three moments to rehearse. Have the incognito window pre-opened.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if she doesn't have an accountant, she can find one here.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pace. This module exists to show completeness and to reassure on security. Feature 39 is strong with technical investors.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 assistant that can actually see her numbers — not generic advice from the internet. She controls what it's allowed to look at.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Alerts in one inbox, and she controls exactly which ones reach her and how.</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Two-factor, every active session, and a full login history — device, time, and where it came from. If something looks wrong, she sees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change to an account is written into a cryptographic chain. This endpoint re-walks that chain and proves nothing was altered or deleted. Most fintechs retrofit this after their first audit. We built it before we had users.</a:t>
            </a:r>
          </a:p>
          <a:p/>
          <a:p>
            <a:r>
              <a:t>STRONG WITH TECHNICAL INVESTORS. This is a credibility moment - it signals you think about trust architecturally, not as a feature.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She can export everything or delete her account outright. Her data is hers. We say that, and then we make it a button.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 For investors, close on feature 43 (Subscription) - that's your revenue proof point.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 identity details are encrypted and only ever displayed as the last four digits — even to her.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Light, dark, and glass. Nine languages, including right-to-left for Arabic — because this customer base isn't only English-speaking.</a:t>
            </a:r>
          </a:p>
          <a:p/>
          <a:p>
            <a:r>
              <a:t>The theme switch is a nice visual flourish. It takes two seconds and always gets a reaction.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plans, the trial, the billing lifecycle, and the feature locks are all built and running. And pricing lives in the database, not the code — we can reprice or repackage without a deploy.</a:t>
            </a:r>
          </a:p>
          <a:p/>
          <a:p>
            <a:r>
              <a:t>THIS IS YOUR INVESTOR CLOSE. Follow it immediately with the 'why can't the incumbents do this' beat (see later slide).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Built-in education, because half of this customer's problem is that nobody ever explained depreciation to them.</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product on iPhone and Android, from one codebase. She can install it from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Support staff have completely separate accounts — a staff token is refused on customer routes, so an agent's credential can never act as a customer. Revealing a customer's personal data requires a typed reason that gets permanently recorded.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deliberately. They're what makes it a story rather than a tour.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~25 minutes. If you're running long, compress modules A, E and F - never B or 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memorise 46 features. Memorise these three.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user demo should END WITH YOU LISTENING. The last five minutes are research, not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immediately after showing the Subscription screen (feature 43).</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add features after this. The ending only works if you let it end.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'do you have users' question with the honest number. Hedging it costs more credibility than the number does.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Owning the over-engineering point and the SOC 2 gap BEFORE they press reads as judgment. Being caught not having considered them does not.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lines. Learn these and you can improvise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two-screen setup is the single highest-value change you can make. No second monitor? Print the feature slides. Paper doesn't get shared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item most likely to ruin a call. Verify the gate the day before, not an hour before.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returning to a parked question is worse than not taking it.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verify before any demo:</a:t>
            </a:r>
          </a:p>
          <a:p>
            <a:r>
              <a:t>- My Business / Deal Room / Fractional LLC render past the FeatureGate</a:t>
            </a:r>
          </a:p>
          <a:p>
            <a:r>
              <a:t>- The AI Assistant answers your exact planned question well</a:t>
            </a:r>
          </a:p>
          <a:p>
            <a:r>
              <a:t>- The demo account has overdue invoices, or features 13 and 14 show nothing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this slide. It's everything you might blank 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on screen while you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371600"/>
            <a:ext cx="7498079" cy="365760"/>
          </a:xfrm>
          <a:prstGeom prst="rect">
            <a:avLst/>
          </a:prstGeom>
          <a:noFill/>
        </p:spPr>
        <p:txBody>
          <a:bodyPr wrap="square" anchor="t" lIns="0" rIns="0" tIns="0" bIns="0">
            <a:spAutoFit/>
          </a:bodyPr>
          <a:lstStyle/>
          <a:p>
            <a:pPr algn="l">
              <a:lnSpc>
                <a:spcPct val="125000"/>
              </a:lnSpc>
            </a:pPr>
            <a:r>
              <a:rPr sz="1300" b="1">
                <a:solidFill>
                  <a:srgbClr val="F0C878"/>
                </a:solidFill>
                <a:latin typeface="Helvetica Neue"/>
              </a:rPr>
              <a:t>TERRAVEST · SHOWCASE &amp; DEMO GUIDE</a:t>
            </a:r>
          </a:p>
        </p:txBody>
      </p:sp>
      <p:sp>
        <p:nvSpPr>
          <p:cNvPr id="6" name="TextBox 5"/>
          <p:cNvSpPr txBox="1"/>
          <p:nvPr/>
        </p:nvSpPr>
        <p:spPr>
          <a:xfrm>
            <a:off x="1051560" y="1874519"/>
            <a:ext cx="7589520" cy="1645920"/>
          </a:xfrm>
          <a:prstGeom prst="rect">
            <a:avLst/>
          </a:prstGeom>
          <a:noFill/>
        </p:spPr>
        <p:txBody>
          <a:bodyPr wrap="square" anchor="t" lIns="0" rIns="0" tIns="0" bIns="0">
            <a:spAutoFit/>
          </a:bodyPr>
          <a:lstStyle/>
          <a:p>
            <a:pPr algn="l">
              <a:lnSpc>
                <a:spcPct val="106000"/>
              </a:lnSpc>
            </a:pPr>
            <a:r>
              <a:rPr sz="5000" b="1">
                <a:solidFill>
                  <a:srgbClr val="FFFFFF"/>
                </a:solidFill>
                <a:latin typeface="Helvetica Neue"/>
              </a:rPr>
              <a:t>All your wealth,
one place.</a:t>
            </a:r>
          </a:p>
        </p:txBody>
      </p:sp>
      <p:sp>
        <p:nvSpPr>
          <p:cNvPr id="7" name="Rectangle 6"/>
          <p:cNvSpPr/>
          <p:nvPr/>
        </p:nvSpPr>
        <p:spPr>
          <a:xfrm>
            <a:off x="1051560" y="3675887"/>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977639"/>
            <a:ext cx="7315200" cy="1280160"/>
          </a:xfrm>
          <a:prstGeom prst="rect">
            <a:avLst/>
          </a:prstGeom>
          <a:noFill/>
        </p:spPr>
        <p:txBody>
          <a:bodyPr wrap="square" anchor="t" lIns="0" rIns="0" tIns="0" bIns="0">
            <a:spAutoFit/>
          </a:bodyPr>
          <a:lstStyle/>
          <a:p>
            <a:pPr algn="l">
              <a:lnSpc>
                <a:spcPct val="135000"/>
              </a:lnSpc>
            </a:pPr>
            <a:r>
              <a:rPr sz="1900" b="0">
                <a:solidFill>
                  <a:srgbClr val="E4ECE6"/>
                </a:solidFill>
                <a:latin typeface="Helvetica Neue"/>
              </a:rPr>
              <a:t>Personal net worth, business finances, and property portfolio — in one login, for people who work for themselves.</a:t>
            </a:r>
          </a:p>
        </p:txBody>
      </p:sp>
      <p:sp>
        <p:nvSpPr>
          <p:cNvPr id="9" name="TextBox 8"/>
          <p:cNvSpPr txBox="1"/>
          <p:nvPr/>
        </p:nvSpPr>
        <p:spPr>
          <a:xfrm>
            <a:off x="1051560" y="5943600"/>
            <a:ext cx="8229600" cy="457200"/>
          </a:xfrm>
          <a:prstGeom prst="rect">
            <a:avLst/>
          </a:prstGeom>
          <a:noFill/>
        </p:spPr>
        <p:txBody>
          <a:bodyPr wrap="square" anchor="t" lIns="0" rIns="0" tIns="0" bIns="0">
            <a:spAutoFit/>
          </a:bodyPr>
          <a:lstStyle/>
          <a:p>
            <a:pPr algn="l">
              <a:lnSpc>
                <a:spcPct val="125000"/>
              </a:lnSpc>
            </a:pPr>
            <a:r>
              <a:rPr sz="1200" b="0">
                <a:solidFill>
                  <a:srgbClr val="8FA599"/>
                </a:solidFill>
                <a:latin typeface="Helvetica Neue"/>
              </a:rPr>
              <a:t>app.terravest.app   ·   Web · iOS · Android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AGENDA</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What we'll cover</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1700" b="1">
                <a:solidFill>
                  <a:srgbClr val="1C1C1A"/>
                </a:solidFill>
                <a:latin typeface="Helvetica Neue"/>
              </a:rPr>
              <a:t>1.   The problem — and who has it</a:t>
            </a:r>
          </a:p>
          <a:p>
            <a:pPr algn="l">
              <a:lnSpc>
                <a:spcPct val="130000"/>
              </a:lnSpc>
              <a:spcBef>
                <a:spcPts val="1200"/>
              </a:spcBef>
            </a:pPr>
            <a:r>
              <a:rPr sz="1700" b="1">
                <a:solidFill>
                  <a:srgbClr val="1C1C1A"/>
                </a:solidFill>
                <a:latin typeface="Helvetica Neue"/>
              </a:rPr>
              <a:t>2.   Personal money: one number, finally</a:t>
            </a:r>
          </a:p>
          <a:p>
            <a:pPr algn="l">
              <a:lnSpc>
                <a:spcPct val="130000"/>
              </a:lnSpc>
              <a:spcBef>
                <a:spcPts val="1200"/>
              </a:spcBef>
            </a:pPr>
            <a:r>
              <a:rPr sz="1700" b="1">
                <a:solidFill>
                  <a:srgbClr val="1C1C1A"/>
                </a:solidFill>
                <a:latin typeface="Helvetica Neue"/>
              </a:rPr>
              <a:t>3.   The business command center</a:t>
            </a:r>
          </a:p>
          <a:p>
            <a:pPr algn="l">
              <a:lnSpc>
                <a:spcPct val="130000"/>
              </a:lnSpc>
              <a:spcBef>
                <a:spcPts val="1200"/>
              </a:spcBef>
            </a:pPr>
            <a:r>
              <a:rPr sz="1700" b="1">
                <a:solidFill>
                  <a:srgbClr val="1C1C1A"/>
                </a:solidFill>
                <a:latin typeface="Helvetica Neue"/>
              </a:rPr>
              <a:t>4.   Property portfolio</a:t>
            </a:r>
          </a:p>
          <a:p>
            <a:pPr algn="l">
              <a:lnSpc>
                <a:spcPct val="130000"/>
              </a:lnSpc>
              <a:spcBef>
                <a:spcPts val="1200"/>
              </a:spcBef>
            </a:pPr>
            <a:r>
              <a:rPr sz="1700" b="1">
                <a:solidFill>
                  <a:srgbClr val="1C1C1A"/>
                </a:solidFill>
                <a:latin typeface="Helvetica Neue"/>
              </a:rPr>
              <a:t>5.   Tax — where this gets different</a:t>
            </a:r>
          </a:p>
          <a:p>
            <a:pPr algn="l">
              <a:lnSpc>
                <a:spcPct val="130000"/>
              </a:lnSpc>
              <a:spcBef>
                <a:spcPts val="1200"/>
              </a:spcBef>
            </a:pPr>
            <a:r>
              <a:rPr sz="1700" b="1">
                <a:solidFill>
                  <a:srgbClr val="1C1C1A"/>
                </a:solidFill>
                <a:latin typeface="Helvetica Neue"/>
              </a:rPr>
              <a:t>6.   The accountant handoff</a:t>
            </a:r>
          </a:p>
          <a:p>
            <a:pPr algn="l">
              <a:lnSpc>
                <a:spcPct val="130000"/>
              </a:lnSpc>
              <a:spcBef>
                <a:spcPts val="1200"/>
              </a:spcBef>
            </a:pPr>
            <a:r>
              <a:rPr sz="1700" b="1">
                <a:solidFill>
                  <a:srgbClr val="1C1C1A"/>
                </a:solidFill>
                <a:latin typeface="Helvetica Neue"/>
              </a:rPr>
              <a:t>7.   Platform, trust, and the business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01</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The Problem</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Why every existing money tool fails one specific person.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920240"/>
            <a:ext cx="9509760" cy="2926080"/>
          </a:xfrm>
          <a:prstGeom prst="rect">
            <a:avLst/>
          </a:prstGeom>
          <a:noFill/>
        </p:spPr>
        <p:txBody>
          <a:bodyPr wrap="square" anchor="ctr" lIns="0" rIns="0" tIns="0" bIns="0">
            <a:spAutoFit/>
          </a:bodyPr>
          <a:lstStyle/>
          <a:p>
            <a:pPr algn="l">
              <a:lnSpc>
                <a:spcPct val="130000"/>
              </a:lnSpc>
            </a:pPr>
            <a:r>
              <a:rPr sz="3300" b="1">
                <a:solidFill>
                  <a:srgbClr val="FFFFFF"/>
                </a:solidFill>
                <a:latin typeface="Helvetica Neue"/>
              </a:rPr>
              <a:t>“How much are you worth?”</a:t>
            </a:r>
          </a:p>
        </p:txBody>
      </p:sp>
      <p:sp>
        <p:nvSpPr>
          <p:cNvPr id="5" name="Rectangle 4"/>
          <p:cNvSpPr/>
          <p:nvPr/>
        </p:nvSpPr>
        <p:spPr>
          <a:xfrm>
            <a:off x="1280160" y="4983480"/>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5257800"/>
            <a:ext cx="9144000" cy="457200"/>
          </a:xfrm>
          <a:prstGeom prst="rect">
            <a:avLst/>
          </a:prstGeom>
          <a:noFill/>
        </p:spPr>
        <p:txBody>
          <a:bodyPr wrap="square" anchor="t" lIns="0" rIns="0" tIns="0" bIns="0">
            <a:spAutoFit/>
          </a:bodyPr>
          <a:lstStyle/>
          <a:p>
            <a:pPr algn="l">
              <a:lnSpc>
                <a:spcPct val="125000"/>
              </a:lnSpc>
            </a:pPr>
            <a:r>
              <a:rPr sz="1400" b="0">
                <a:solidFill>
                  <a:srgbClr val="F0C878"/>
                </a:solidFill>
                <a:latin typeface="Helvetica Neue"/>
              </a:rPr>
              <a:t>The question Maria cannot answer — not because she's bad with money, but because the answer lives in four systems that don't talk.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THE GAP</a:t>
            </a:r>
          </a:p>
        </p:txBody>
      </p:sp>
      <p:sp>
        <p:nvSpPr>
          <p:cNvPr id="5" name="TextBox 4"/>
          <p:cNvSpPr txBox="1"/>
          <p:nvPr/>
        </p:nvSpPr>
        <p:spPr>
          <a:xfrm>
            <a:off x="822960" y="841248"/>
            <a:ext cx="10515600" cy="731520"/>
          </a:xfrm>
          <a:prstGeom prst="rect">
            <a:avLst/>
          </a:prstGeom>
          <a:noFill/>
        </p:spPr>
        <p:txBody>
          <a:bodyPr wrap="square" anchor="t" lIns="0" rIns="0" tIns="0" bIns="0">
            <a:spAutoFit/>
          </a:bodyPr>
          <a:lstStyle/>
          <a:p>
            <a:pPr algn="l">
              <a:lnSpc>
                <a:spcPct val="110000"/>
              </a:lnSpc>
            </a:pPr>
            <a:r>
              <a:rPr sz="3100" b="1">
                <a:solidFill>
                  <a:srgbClr val="1A4D3B"/>
                </a:solidFill>
                <a:latin typeface="Helvetica Neue"/>
              </a:rPr>
              <a:t>Every tool is built for someone who isn't her</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22960" y="1874519"/>
          <a:ext cx="10515598" cy="2377440"/>
        </p:xfrm>
        <a:graphic>
          <a:graphicData uri="http://schemas.openxmlformats.org/drawingml/2006/table">
            <a:tbl>
              <a:tblPr firstRow="1" bandRow="1">
                <a:tableStyleId>{5C22544A-7EE6-4342-B048-85BDC9FD1C3A}</a:tableStyleId>
              </a:tblPr>
              <a:tblGrid>
                <a:gridCol w="2268070"/>
                <a:gridCol w="3092823"/>
                <a:gridCol w="5154705"/>
              </a:tblGrid>
              <a:tr h="475488">
                <a:tc>
                  <a:txBody>
                    <a:bodyPr/>
                    <a:lstStyle/>
                    <a:p>
                      <a:r>
                        <a:rPr sz="1300" b="1">
                          <a:solidFill>
                            <a:srgbClr val="FFFFFF"/>
                          </a:solidFill>
                        </a:rPr>
                        <a:t>Tool</a:t>
                      </a:r>
                    </a:p>
                  </a:txBody>
                  <a:tcPr anchor="ctr" marL="128016">
                    <a:solidFill>
                      <a:srgbClr val="1A4D3B"/>
                    </a:solidFill>
                  </a:tcPr>
                </a:tc>
                <a:tc>
                  <a:txBody>
                    <a:bodyPr/>
                    <a:lstStyle/>
                    <a:p>
                      <a:r>
                        <a:rPr sz="1300" b="1">
                          <a:solidFill>
                            <a:srgbClr val="FFFFFF"/>
                          </a:solidFill>
                        </a:rPr>
                        <a:t>Built for</a:t>
                      </a:r>
                    </a:p>
                  </a:txBody>
                  <a:tcPr anchor="ctr" marL="128016">
                    <a:solidFill>
                      <a:srgbClr val="1A4D3B"/>
                    </a:solidFill>
                  </a:tcPr>
                </a:tc>
                <a:tc>
                  <a:txBody>
                    <a:bodyPr/>
                    <a:lstStyle/>
                    <a:p>
                      <a:r>
                        <a:rPr sz="1300" b="1">
                          <a:solidFill>
                            <a:srgbClr val="FFFFFF"/>
                          </a:solidFill>
                        </a:rPr>
                        <a:t>Where it fails Maria</a:t>
                      </a:r>
                    </a:p>
                  </a:txBody>
                  <a:tcPr anchor="ctr" marL="128016">
                    <a:solidFill>
                      <a:srgbClr val="1A4D3B"/>
                    </a:solidFill>
                  </a:tcPr>
                </a:tc>
              </a:tr>
              <a:tr h="475488">
                <a:tc>
                  <a:txBody>
                    <a:bodyPr/>
                    <a:lstStyle/>
                    <a:p>
                      <a:r>
                        <a:rPr sz="1200" b="1">
                          <a:solidFill>
                            <a:srgbClr val="1C1C1A"/>
                          </a:solidFill>
                        </a:rPr>
                        <a:t>Mint, Monarch</a:t>
                      </a:r>
                    </a:p>
                  </a:txBody>
                  <a:tcPr anchor="ctr" marL="128016">
                    <a:solidFill>
                      <a:srgbClr val="FFFFFF"/>
                    </a:solidFill>
                  </a:tcPr>
                </a:tc>
                <a:tc>
                  <a:txBody>
                    <a:bodyPr/>
                    <a:lstStyle/>
                    <a:p>
                      <a:r>
                        <a:rPr sz="1200" b="0">
                          <a:solidFill>
                            <a:srgbClr val="1C1C1A"/>
                          </a:solidFill>
                        </a:rPr>
                        <a:t>Someone with a paycheck</a:t>
                      </a:r>
                    </a:p>
                  </a:txBody>
                  <a:tcPr anchor="ctr" marL="128016">
                    <a:solidFill>
                      <a:srgbClr val="FFFFFF"/>
                    </a:solidFill>
                  </a:tcPr>
                </a:tc>
                <a:tc>
                  <a:txBody>
                    <a:bodyPr/>
                    <a:lstStyle/>
                    <a:p>
                      <a:r>
                        <a:rPr sz="1200" b="0">
                          <a:solidFill>
                            <a:srgbClr val="1C1C1A"/>
                          </a:solidFill>
                        </a:rPr>
                        <a:t>No business entity, no P&amp;L, no rental logic</a:t>
                      </a:r>
                    </a:p>
                  </a:txBody>
                  <a:tcPr anchor="ctr" marL="128016">
                    <a:solidFill>
                      <a:srgbClr val="FFFFFF"/>
                    </a:solidFill>
                  </a:tcPr>
                </a:tc>
              </a:tr>
              <a:tr h="475488">
                <a:tc>
                  <a:txBody>
                    <a:bodyPr/>
                    <a:lstStyle/>
                    <a:p>
                      <a:r>
                        <a:rPr sz="1200" b="1">
                          <a:solidFill>
                            <a:srgbClr val="1C1C1A"/>
                          </a:solidFill>
                        </a:rPr>
                        <a:t>QuickBooks, Xero</a:t>
                      </a:r>
                    </a:p>
                  </a:txBody>
                  <a:tcPr anchor="ctr" marL="128016">
                    <a:solidFill>
                      <a:srgbClr val="E4ECE6"/>
                    </a:solidFill>
                  </a:tcPr>
                </a:tc>
                <a:tc>
                  <a:txBody>
                    <a:bodyPr/>
                    <a:lstStyle/>
                    <a:p>
                      <a:r>
                        <a:rPr sz="1200" b="0">
                          <a:solidFill>
                            <a:srgbClr val="1C1C1A"/>
                          </a:solidFill>
                        </a:rPr>
                        <a:t>A bookkeeper doing the books</a:t>
                      </a:r>
                    </a:p>
                  </a:txBody>
                  <a:tcPr anchor="ctr" marL="128016">
                    <a:solidFill>
                      <a:srgbClr val="E4ECE6"/>
                    </a:solidFill>
                  </a:tcPr>
                </a:tc>
                <a:tc>
                  <a:txBody>
                    <a:bodyPr/>
                    <a:lstStyle/>
                    <a:p>
                      <a:r>
                        <a:rPr sz="1200" b="0">
                          <a:solidFill>
                            <a:srgbClr val="1C1C1A"/>
                          </a:solidFill>
                        </a:rPr>
                        <a:t>No personal net worth, investments, or property equity</a:t>
                      </a:r>
                    </a:p>
                  </a:txBody>
                  <a:tcPr anchor="ctr" marL="128016">
                    <a:solidFill>
                      <a:srgbClr val="E4ECE6"/>
                    </a:solidFill>
                  </a:tcPr>
                </a:tc>
              </a:tr>
              <a:tr h="475488">
                <a:tc>
                  <a:txBody>
                    <a:bodyPr/>
                    <a:lstStyle/>
                    <a:p>
                      <a:r>
                        <a:rPr sz="1200" b="1">
                          <a:solidFill>
                            <a:srgbClr val="1C1C1A"/>
                          </a:solidFill>
                        </a:rPr>
                        <a:t>Stessa, Baselane</a:t>
                      </a:r>
                    </a:p>
                  </a:txBody>
                  <a:tcPr anchor="ctr" marL="128016">
                    <a:solidFill>
                      <a:srgbClr val="FFFFFF"/>
                    </a:solidFill>
                  </a:tcPr>
                </a:tc>
                <a:tc>
                  <a:txBody>
                    <a:bodyPr/>
                    <a:lstStyle/>
                    <a:p>
                      <a:r>
                        <a:rPr sz="1200" b="0">
                          <a:solidFill>
                            <a:srgbClr val="1C1C1A"/>
                          </a:solidFill>
                        </a:rPr>
                        <a:t>A landlord, only</a:t>
                      </a:r>
                    </a:p>
                  </a:txBody>
                  <a:tcPr anchor="ctr" marL="128016">
                    <a:solidFill>
                      <a:srgbClr val="FFFFFF"/>
                    </a:solidFill>
                  </a:tcPr>
                </a:tc>
                <a:tc>
                  <a:txBody>
                    <a:bodyPr/>
                    <a:lstStyle/>
                    <a:p>
                      <a:r>
                        <a:rPr sz="1200" b="0">
                          <a:solidFill>
                            <a:srgbClr val="1C1C1A"/>
                          </a:solidFill>
                        </a:rPr>
                        <a:t>Property alone — no business, no personal wealth</a:t>
                      </a:r>
                    </a:p>
                  </a:txBody>
                  <a:tcPr anchor="ctr" marL="128016">
                    <a:solidFill>
                      <a:srgbClr val="FFFFFF"/>
                    </a:solidFill>
                  </a:tcPr>
                </a:tc>
              </a:tr>
              <a:tr h="475488">
                <a:tc>
                  <a:txBody>
                    <a:bodyPr/>
                    <a:lstStyle/>
                    <a:p>
                      <a:r>
                        <a:rPr sz="1200" b="1">
                          <a:solidFill>
                            <a:srgbClr val="1C1C1A"/>
                          </a:solidFill>
                        </a:rPr>
                        <a:t>Spreadsheets</a:t>
                      </a:r>
                    </a:p>
                  </a:txBody>
                  <a:tcPr anchor="ctr" marL="128016">
                    <a:solidFill>
                      <a:srgbClr val="E4ECE6"/>
                    </a:solidFill>
                  </a:tcPr>
                </a:tc>
                <a:tc>
                  <a:txBody>
                    <a:bodyPr/>
                    <a:lstStyle/>
                    <a:p>
                      <a:r>
                        <a:rPr sz="1200" b="0">
                          <a:solidFill>
                            <a:srgbClr val="1C1C1A"/>
                          </a:solidFill>
                        </a:rPr>
                        <a:t>Nobody, badly</a:t>
                      </a:r>
                    </a:p>
                  </a:txBody>
                  <a:tcPr anchor="ctr" marL="128016">
                    <a:solidFill>
                      <a:srgbClr val="E4ECE6"/>
                    </a:solidFill>
                  </a:tcPr>
                </a:tc>
                <a:tc>
                  <a:txBody>
                    <a:bodyPr/>
                    <a:lstStyle/>
                    <a:p>
                      <a:r>
                        <a:rPr sz="1200" b="0">
                          <a:solidFill>
                            <a:srgbClr val="1C1C1A"/>
                          </a:solidFill>
                        </a:rPr>
                        <a:t>Manual, always stale, unsafe to share</a:t>
                      </a:r>
                    </a:p>
                  </a:txBody>
                  <a:tcPr anchor="ctr" marL="128016">
                    <a:solidFill>
                      <a:srgbClr val="E4ECE6"/>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WHY IT MATTERS</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Three costs of the gap</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2000" b="1">
                <a:solidFill>
                  <a:srgbClr val="1A4D3B"/>
                </a:solidFill>
                <a:latin typeface="Helvetica Neue"/>
              </a:rPr>
              <a:t>No single number</a:t>
            </a:r>
          </a:p>
          <a:p>
            <a:pPr algn="l">
              <a:lnSpc>
                <a:spcPct val="130000"/>
              </a:lnSpc>
              <a:spcBef>
                <a:spcPts val="400"/>
              </a:spcBef>
            </a:pPr>
            <a:r>
              <a:rPr sz="1500" b="0">
                <a:solidFill>
                  <a:srgbClr val="1C1C1A"/>
                </a:solidFill>
                <a:latin typeface="Helvetica Neue"/>
              </a:rPr>
              <a:t>She can't answer “what am I worth?” without an afternoon of work — so she never really knows, and can't make decisions from it.</a:t>
            </a:r>
          </a:p>
          <a:p>
            <a:pPr algn="l">
              <a:lnSpc>
                <a:spcPct val="130000"/>
              </a:lnSpc>
              <a:spcBef>
                <a:spcPts val="2000"/>
              </a:spcBef>
            </a:pPr>
            <a:r>
              <a:rPr sz="2000" b="1">
                <a:solidFill>
                  <a:srgbClr val="1A4D3B"/>
                </a:solidFill>
                <a:latin typeface="Helvetica Neue"/>
              </a:rPr>
              <a:t>Tax money left on the table</a:t>
            </a:r>
          </a:p>
          <a:p>
            <a:pPr algn="l">
              <a:lnSpc>
                <a:spcPct val="130000"/>
              </a:lnSpc>
              <a:spcBef>
                <a:spcPts val="400"/>
              </a:spcBef>
            </a:pPr>
            <a:r>
              <a:rPr sz="1500" b="0">
                <a:solidFill>
                  <a:srgbClr val="1C1C1A"/>
                </a:solidFill>
                <a:latin typeface="Helvetica Neue"/>
              </a:rPr>
              <a:t>Rental depreciation, suspended passive losses, the 20% QBI deduction, quarterly estimates. Exactly the levers this customer has — and exactly the ones a consumer app never surfaces.</a:t>
            </a:r>
          </a:p>
          <a:p>
            <a:pPr algn="l">
              <a:lnSpc>
                <a:spcPct val="130000"/>
              </a:lnSpc>
              <a:spcBef>
                <a:spcPts val="2000"/>
              </a:spcBef>
            </a:pPr>
            <a:r>
              <a:rPr sz="2000" b="1">
                <a:solidFill>
                  <a:srgbClr val="1A4D3B"/>
                </a:solidFill>
                <a:latin typeface="Helvetica Neue"/>
              </a:rPr>
              <a:t>The accountant tax</a:t>
            </a:r>
          </a:p>
          <a:p>
            <a:pPr algn="l">
              <a:lnSpc>
                <a:spcPct val="130000"/>
              </a:lnSpc>
              <a:spcBef>
                <a:spcPts val="400"/>
              </a:spcBef>
            </a:pPr>
            <a:r>
              <a:rPr sz="1500" b="0">
                <a:solidFill>
                  <a:srgbClr val="1C1C1A"/>
                </a:solidFill>
                <a:latin typeface="Helvetica Neue"/>
              </a:rPr>
              <a:t>She pays professional rates for data assembly that software should 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920240"/>
            <a:ext cx="9509760" cy="2926080"/>
          </a:xfrm>
          <a:prstGeom prst="rect">
            <a:avLst/>
          </a:prstGeom>
          <a:noFill/>
        </p:spPr>
        <p:txBody>
          <a:bodyPr wrap="square" anchor="ctr" lIns="0" rIns="0" tIns="0" bIns="0">
            <a:spAutoFit/>
          </a:bodyPr>
          <a:lstStyle/>
          <a:p>
            <a:pPr algn="l">
              <a:lnSpc>
                <a:spcPct val="130000"/>
              </a:lnSpc>
            </a:pPr>
            <a:r>
              <a:rPr sz="3300" b="1">
                <a:solidFill>
                  <a:srgbClr val="FFFFFF"/>
                </a:solidFill>
                <a:latin typeface="Helvetica Neue"/>
              </a:rPr>
              <a:t>“TerraVest puts personal, business, and property in one place — and connects them.”</a:t>
            </a:r>
          </a:p>
        </p:txBody>
      </p:sp>
      <p:sp>
        <p:nvSpPr>
          <p:cNvPr id="5" name="Rectangle 4"/>
          <p:cNvSpPr/>
          <p:nvPr/>
        </p:nvSpPr>
        <p:spPr>
          <a:xfrm>
            <a:off x="1280160" y="4983480"/>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5257800"/>
            <a:ext cx="9144000" cy="457200"/>
          </a:xfrm>
          <a:prstGeom prst="rect">
            <a:avLst/>
          </a:prstGeom>
          <a:noFill/>
        </p:spPr>
        <p:txBody>
          <a:bodyPr wrap="square" anchor="t" lIns="0" rIns="0" tIns="0" bIns="0">
            <a:spAutoFit/>
          </a:bodyPr>
          <a:lstStyle/>
          <a:p>
            <a:pPr algn="l">
              <a:lnSpc>
                <a:spcPct val="125000"/>
              </a:lnSpc>
            </a:pPr>
            <a:r>
              <a:rPr sz="1400" b="0">
                <a:solidFill>
                  <a:srgbClr val="F0C878"/>
                </a:solidFill>
                <a:latin typeface="Helvetica Neue"/>
              </a:rPr>
              <a:t>Because for a self-employed person, those were never three separate financial lives.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SCALE</a:t>
            </a:r>
          </a:p>
        </p:txBody>
      </p:sp>
      <p:sp>
        <p:nvSpPr>
          <p:cNvPr id="5" name="TextBox 4"/>
          <p:cNvSpPr txBox="1"/>
          <p:nvPr/>
        </p:nvSpPr>
        <p:spPr>
          <a:xfrm>
            <a:off x="822960" y="841248"/>
            <a:ext cx="10515600" cy="73152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What we've built</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057400"/>
            <a:ext cx="3297936" cy="14813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57400"/>
            <a:ext cx="3297936" cy="50292"/>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331720"/>
            <a:ext cx="2749296" cy="640080"/>
          </a:xfrm>
          <a:prstGeom prst="rect">
            <a:avLst/>
          </a:prstGeom>
          <a:noFill/>
        </p:spPr>
        <p:txBody>
          <a:bodyPr wrap="square" anchor="t" lIns="0" rIns="0" tIns="0" bIns="0">
            <a:spAutoFit/>
          </a:bodyPr>
          <a:lstStyle/>
          <a:p>
            <a:pPr algn="l">
              <a:lnSpc>
                <a:spcPct val="105000"/>
              </a:lnSpc>
            </a:pPr>
            <a:r>
              <a:rPr sz="3000" b="1">
                <a:solidFill>
                  <a:srgbClr val="1A4D3B"/>
                </a:solidFill>
                <a:latin typeface="Helvetica Neue"/>
              </a:rPr>
              <a:t>Live</a:t>
            </a:r>
          </a:p>
        </p:txBody>
      </p:sp>
      <p:sp>
        <p:nvSpPr>
          <p:cNvPr id="10" name="TextBox 9"/>
          <p:cNvSpPr txBox="1"/>
          <p:nvPr/>
        </p:nvSpPr>
        <p:spPr>
          <a:xfrm>
            <a:off x="1097280" y="2971800"/>
            <a:ext cx="2749296" cy="457200"/>
          </a:xfrm>
          <a:prstGeom prst="rect">
            <a:avLst/>
          </a:prstGeom>
          <a:noFill/>
        </p:spPr>
        <p:txBody>
          <a:bodyPr wrap="square" anchor="t" lIns="0" rIns="0" tIns="0" bIns="0">
            <a:spAutoFit/>
          </a:bodyPr>
          <a:lstStyle/>
          <a:p>
            <a:pPr algn="l">
              <a:lnSpc>
                <a:spcPct val="125000"/>
              </a:lnSpc>
            </a:pPr>
            <a:r>
              <a:rPr sz="1200" b="0">
                <a:solidFill>
                  <a:srgbClr val="5A5F5B"/>
                </a:solidFill>
                <a:latin typeface="Helvetica Neue"/>
              </a:rPr>
              <a:t>In production, HTTPS, deployed and monitored</a:t>
            </a:r>
          </a:p>
        </p:txBody>
      </p:sp>
      <p:sp>
        <p:nvSpPr>
          <p:cNvPr id="11" name="Rectangle 10"/>
          <p:cNvSpPr/>
          <p:nvPr/>
        </p:nvSpPr>
        <p:spPr>
          <a:xfrm>
            <a:off x="4431792" y="2057400"/>
            <a:ext cx="3297936" cy="14813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1792" y="2057400"/>
            <a:ext cx="3297936" cy="50292"/>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6112" y="2331720"/>
            <a:ext cx="2749296" cy="640080"/>
          </a:xfrm>
          <a:prstGeom prst="rect">
            <a:avLst/>
          </a:prstGeom>
          <a:noFill/>
        </p:spPr>
        <p:txBody>
          <a:bodyPr wrap="square" anchor="t" lIns="0" rIns="0" tIns="0" bIns="0">
            <a:spAutoFit/>
          </a:bodyPr>
          <a:lstStyle/>
          <a:p>
            <a:pPr algn="l">
              <a:lnSpc>
                <a:spcPct val="105000"/>
              </a:lnSpc>
            </a:pPr>
            <a:r>
              <a:rPr sz="3000" b="1">
                <a:solidFill>
                  <a:srgbClr val="1A4D3B"/>
                </a:solidFill>
                <a:latin typeface="Helvetica Neue"/>
              </a:rPr>
              <a:t>14</a:t>
            </a:r>
          </a:p>
        </p:txBody>
      </p:sp>
      <p:sp>
        <p:nvSpPr>
          <p:cNvPr id="14" name="TextBox 13"/>
          <p:cNvSpPr txBox="1"/>
          <p:nvPr/>
        </p:nvSpPr>
        <p:spPr>
          <a:xfrm>
            <a:off x="4706112" y="2971800"/>
            <a:ext cx="2749296" cy="457200"/>
          </a:xfrm>
          <a:prstGeom prst="rect">
            <a:avLst/>
          </a:prstGeom>
          <a:noFill/>
        </p:spPr>
        <p:txBody>
          <a:bodyPr wrap="square" anchor="t" lIns="0" rIns="0" tIns="0" bIns="0">
            <a:spAutoFit/>
          </a:bodyPr>
          <a:lstStyle/>
          <a:p>
            <a:pPr algn="l">
              <a:lnSpc>
                <a:spcPct val="125000"/>
              </a:lnSpc>
            </a:pPr>
            <a:r>
              <a:rPr sz="1200" b="0">
                <a:solidFill>
                  <a:srgbClr val="5A5F5B"/>
                </a:solidFill>
                <a:latin typeface="Helvetica Neue"/>
              </a:rPr>
              <a:t>Backend services</a:t>
            </a:r>
          </a:p>
        </p:txBody>
      </p:sp>
      <p:sp>
        <p:nvSpPr>
          <p:cNvPr id="15" name="Rectangle 14"/>
          <p:cNvSpPr/>
          <p:nvPr/>
        </p:nvSpPr>
        <p:spPr>
          <a:xfrm>
            <a:off x="8040624" y="2057400"/>
            <a:ext cx="3297936" cy="14813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0624" y="2057400"/>
            <a:ext cx="3297936" cy="50292"/>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4944" y="2331720"/>
            <a:ext cx="2749296" cy="640080"/>
          </a:xfrm>
          <a:prstGeom prst="rect">
            <a:avLst/>
          </a:prstGeom>
          <a:noFill/>
        </p:spPr>
        <p:txBody>
          <a:bodyPr wrap="square" anchor="t" lIns="0" rIns="0" tIns="0" bIns="0">
            <a:spAutoFit/>
          </a:bodyPr>
          <a:lstStyle/>
          <a:p>
            <a:pPr algn="l">
              <a:lnSpc>
                <a:spcPct val="105000"/>
              </a:lnSpc>
            </a:pPr>
            <a:r>
              <a:rPr sz="3000" b="1">
                <a:solidFill>
                  <a:srgbClr val="1A4D3B"/>
                </a:solidFill>
                <a:latin typeface="Helvetica Neue"/>
              </a:rPr>
              <a:t>305</a:t>
            </a:r>
          </a:p>
        </p:txBody>
      </p:sp>
      <p:sp>
        <p:nvSpPr>
          <p:cNvPr id="18" name="TextBox 17"/>
          <p:cNvSpPr txBox="1"/>
          <p:nvPr/>
        </p:nvSpPr>
        <p:spPr>
          <a:xfrm>
            <a:off x="8314944" y="2971800"/>
            <a:ext cx="2749296" cy="457200"/>
          </a:xfrm>
          <a:prstGeom prst="rect">
            <a:avLst/>
          </a:prstGeom>
          <a:noFill/>
        </p:spPr>
        <p:txBody>
          <a:bodyPr wrap="square" anchor="t" lIns="0" rIns="0" tIns="0" bIns="0">
            <a:spAutoFit/>
          </a:bodyPr>
          <a:lstStyle/>
          <a:p>
            <a:pPr algn="l">
              <a:lnSpc>
                <a:spcPct val="125000"/>
              </a:lnSpc>
            </a:pPr>
            <a:r>
              <a:rPr sz="1200" b="0">
                <a:solidFill>
                  <a:srgbClr val="5A5F5B"/>
                </a:solidFill>
                <a:latin typeface="Helvetica Neue"/>
              </a:rPr>
              <a:t>API endpoints</a:t>
            </a:r>
          </a:p>
        </p:txBody>
      </p:sp>
      <p:sp>
        <p:nvSpPr>
          <p:cNvPr id="19" name="Rectangle 18"/>
          <p:cNvSpPr/>
          <p:nvPr/>
        </p:nvSpPr>
        <p:spPr>
          <a:xfrm>
            <a:off x="822960" y="3813048"/>
            <a:ext cx="3297936" cy="14813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813048"/>
            <a:ext cx="3297936" cy="50292"/>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087368"/>
            <a:ext cx="2749296" cy="640080"/>
          </a:xfrm>
          <a:prstGeom prst="rect">
            <a:avLst/>
          </a:prstGeom>
          <a:noFill/>
        </p:spPr>
        <p:txBody>
          <a:bodyPr wrap="square" anchor="t" lIns="0" rIns="0" tIns="0" bIns="0">
            <a:spAutoFit/>
          </a:bodyPr>
          <a:lstStyle/>
          <a:p>
            <a:pPr algn="l">
              <a:lnSpc>
                <a:spcPct val="105000"/>
              </a:lnSpc>
            </a:pPr>
            <a:r>
              <a:rPr sz="3000" b="1">
                <a:solidFill>
                  <a:srgbClr val="1A4D3B"/>
                </a:solidFill>
                <a:latin typeface="Helvetica Neue"/>
              </a:rPr>
              <a:t>35</a:t>
            </a:r>
          </a:p>
        </p:txBody>
      </p:sp>
      <p:sp>
        <p:nvSpPr>
          <p:cNvPr id="22" name="TextBox 21"/>
          <p:cNvSpPr txBox="1"/>
          <p:nvPr/>
        </p:nvSpPr>
        <p:spPr>
          <a:xfrm>
            <a:off x="1097280" y="4727448"/>
            <a:ext cx="2749296" cy="457200"/>
          </a:xfrm>
          <a:prstGeom prst="rect">
            <a:avLst/>
          </a:prstGeom>
          <a:noFill/>
        </p:spPr>
        <p:txBody>
          <a:bodyPr wrap="square" anchor="t" lIns="0" rIns="0" tIns="0" bIns="0">
            <a:spAutoFit/>
          </a:bodyPr>
          <a:lstStyle/>
          <a:p>
            <a:pPr algn="l">
              <a:lnSpc>
                <a:spcPct val="125000"/>
              </a:lnSpc>
            </a:pPr>
            <a:r>
              <a:rPr sz="1200" b="0">
                <a:solidFill>
                  <a:srgbClr val="5A5F5B"/>
                </a:solidFill>
                <a:latin typeface="Helvetica Neue"/>
              </a:rPr>
              <a:t>Product screens</a:t>
            </a:r>
          </a:p>
        </p:txBody>
      </p:sp>
      <p:sp>
        <p:nvSpPr>
          <p:cNvPr id="23" name="Rectangle 22"/>
          <p:cNvSpPr/>
          <p:nvPr/>
        </p:nvSpPr>
        <p:spPr>
          <a:xfrm>
            <a:off x="4431792" y="3813048"/>
            <a:ext cx="3297936" cy="14813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31792" y="3813048"/>
            <a:ext cx="3297936" cy="50292"/>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06112" y="4087368"/>
            <a:ext cx="2749296" cy="640080"/>
          </a:xfrm>
          <a:prstGeom prst="rect">
            <a:avLst/>
          </a:prstGeom>
          <a:noFill/>
        </p:spPr>
        <p:txBody>
          <a:bodyPr wrap="square" anchor="t" lIns="0" rIns="0" tIns="0" bIns="0">
            <a:spAutoFit/>
          </a:bodyPr>
          <a:lstStyle/>
          <a:p>
            <a:pPr algn="l">
              <a:lnSpc>
                <a:spcPct val="105000"/>
              </a:lnSpc>
            </a:pPr>
            <a:r>
              <a:rPr sz="3000" b="1">
                <a:solidFill>
                  <a:srgbClr val="1A4D3B"/>
                </a:solidFill>
                <a:latin typeface="Helvetica Neue"/>
              </a:rPr>
              <a:t>3</a:t>
            </a:r>
          </a:p>
        </p:txBody>
      </p:sp>
      <p:sp>
        <p:nvSpPr>
          <p:cNvPr id="26" name="TextBox 25"/>
          <p:cNvSpPr txBox="1"/>
          <p:nvPr/>
        </p:nvSpPr>
        <p:spPr>
          <a:xfrm>
            <a:off x="4706112" y="4727448"/>
            <a:ext cx="2749296" cy="457200"/>
          </a:xfrm>
          <a:prstGeom prst="rect">
            <a:avLst/>
          </a:prstGeom>
          <a:noFill/>
        </p:spPr>
        <p:txBody>
          <a:bodyPr wrap="square" anchor="t" lIns="0" rIns="0" tIns="0" bIns="0">
            <a:spAutoFit/>
          </a:bodyPr>
          <a:lstStyle/>
          <a:p>
            <a:pPr algn="l">
              <a:lnSpc>
                <a:spcPct val="125000"/>
              </a:lnSpc>
            </a:pPr>
            <a:r>
              <a:rPr sz="1200" b="0">
                <a:solidFill>
                  <a:srgbClr val="5A5F5B"/>
                </a:solidFill>
                <a:latin typeface="Helvetica Neue"/>
              </a:rPr>
              <a:t>Platforms — web, iOS, Android</a:t>
            </a:r>
          </a:p>
        </p:txBody>
      </p:sp>
      <p:sp>
        <p:nvSpPr>
          <p:cNvPr id="27" name="Rectangle 26"/>
          <p:cNvSpPr/>
          <p:nvPr/>
        </p:nvSpPr>
        <p:spPr>
          <a:xfrm>
            <a:off x="8040624" y="3813048"/>
            <a:ext cx="3297936" cy="14813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0624" y="3813048"/>
            <a:ext cx="3297936" cy="50292"/>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14944" y="4087368"/>
            <a:ext cx="2749296" cy="640080"/>
          </a:xfrm>
          <a:prstGeom prst="rect">
            <a:avLst/>
          </a:prstGeom>
          <a:noFill/>
        </p:spPr>
        <p:txBody>
          <a:bodyPr wrap="square" anchor="t" lIns="0" rIns="0" tIns="0" bIns="0">
            <a:spAutoFit/>
          </a:bodyPr>
          <a:lstStyle/>
          <a:p>
            <a:pPr algn="l">
              <a:lnSpc>
                <a:spcPct val="105000"/>
              </a:lnSpc>
            </a:pPr>
            <a:r>
              <a:rPr sz="3000" b="1">
                <a:solidFill>
                  <a:srgbClr val="1A4D3B"/>
                </a:solidFill>
                <a:latin typeface="Helvetica Neue"/>
              </a:rPr>
              <a:t>9</a:t>
            </a:r>
          </a:p>
        </p:txBody>
      </p:sp>
      <p:sp>
        <p:nvSpPr>
          <p:cNvPr id="30" name="TextBox 29"/>
          <p:cNvSpPr txBox="1"/>
          <p:nvPr/>
        </p:nvSpPr>
        <p:spPr>
          <a:xfrm>
            <a:off x="8314944" y="4727448"/>
            <a:ext cx="2749296" cy="457200"/>
          </a:xfrm>
          <a:prstGeom prst="rect">
            <a:avLst/>
          </a:prstGeom>
          <a:noFill/>
        </p:spPr>
        <p:txBody>
          <a:bodyPr wrap="square" anchor="t" lIns="0" rIns="0" tIns="0" bIns="0">
            <a:spAutoFit/>
          </a:bodyPr>
          <a:lstStyle/>
          <a:p>
            <a:pPr algn="l">
              <a:lnSpc>
                <a:spcPct val="125000"/>
              </a:lnSpc>
            </a:pPr>
            <a:r>
              <a:rPr sz="1200" b="0">
                <a:solidFill>
                  <a:srgbClr val="5A5F5B"/>
                </a:solidFill>
                <a:latin typeface="Helvetica Neue"/>
              </a:rPr>
              <a:t>Languages, incl. right-to-left Arabic</a:t>
            </a:r>
          </a:p>
        </p:txBody>
      </p:sp>
      <p:sp>
        <p:nvSpPr>
          <p:cNvPr id="31" name="Rectangle 30"/>
          <p:cNvSpPr/>
          <p:nvPr/>
        </p:nvSpPr>
        <p:spPr>
          <a:xfrm>
            <a:off x="822960" y="5568696"/>
            <a:ext cx="3297936" cy="14813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 y="5568696"/>
            <a:ext cx="3297936" cy="50292"/>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843016"/>
            <a:ext cx="2749296" cy="640080"/>
          </a:xfrm>
          <a:prstGeom prst="rect">
            <a:avLst/>
          </a:prstGeom>
          <a:noFill/>
        </p:spPr>
        <p:txBody>
          <a:bodyPr wrap="square" anchor="t" lIns="0" rIns="0" tIns="0" bIns="0">
            <a:spAutoFit/>
          </a:bodyPr>
          <a:lstStyle/>
          <a:p>
            <a:pPr algn="l">
              <a:lnSpc>
                <a:spcPct val="105000"/>
              </a:lnSpc>
            </a:pPr>
            <a:r>
              <a:rPr sz="3000" b="1">
                <a:solidFill>
                  <a:srgbClr val="1A4D3B"/>
                </a:solidFill>
                <a:latin typeface="Helvetica Neue"/>
              </a:rPr>
              <a:t>174</a:t>
            </a:r>
          </a:p>
        </p:txBody>
      </p:sp>
      <p:sp>
        <p:nvSpPr>
          <p:cNvPr id="34" name="TextBox 33"/>
          <p:cNvSpPr txBox="1"/>
          <p:nvPr/>
        </p:nvSpPr>
        <p:spPr>
          <a:xfrm>
            <a:off x="1097280" y="6483096"/>
            <a:ext cx="2749296" cy="457200"/>
          </a:xfrm>
          <a:prstGeom prst="rect">
            <a:avLst/>
          </a:prstGeom>
          <a:noFill/>
        </p:spPr>
        <p:txBody>
          <a:bodyPr wrap="square" anchor="t" lIns="0" rIns="0" tIns="0" bIns="0">
            <a:spAutoFit/>
          </a:bodyPr>
          <a:lstStyle/>
          <a:p>
            <a:pPr algn="l">
              <a:lnSpc>
                <a:spcPct val="125000"/>
              </a:lnSpc>
            </a:pPr>
            <a:r>
              <a:rPr sz="1200" b="0">
                <a:solidFill>
                  <a:srgbClr val="5A5F5B"/>
                </a:solidFill>
                <a:latin typeface="Helvetica Neue"/>
              </a:rPr>
              <a:t>Database migrations</a:t>
            </a:r>
          </a:p>
        </p:txBody>
      </p:sp>
      <p:sp>
        <p:nvSpPr>
          <p:cNvPr id="35" name="Rectangle 34"/>
          <p:cNvSpPr/>
          <p:nvPr/>
        </p:nvSpPr>
        <p:spPr>
          <a:xfrm>
            <a:off x="4431792" y="5568696"/>
            <a:ext cx="3297936" cy="14813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31792" y="5568696"/>
            <a:ext cx="3297936" cy="50292"/>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06112" y="5843016"/>
            <a:ext cx="2749296" cy="640080"/>
          </a:xfrm>
          <a:prstGeom prst="rect">
            <a:avLst/>
          </a:prstGeom>
          <a:noFill/>
        </p:spPr>
        <p:txBody>
          <a:bodyPr wrap="square" anchor="t" lIns="0" rIns="0" tIns="0" bIns="0">
            <a:spAutoFit/>
          </a:bodyPr>
          <a:lstStyle/>
          <a:p>
            <a:pPr algn="l">
              <a:lnSpc>
                <a:spcPct val="105000"/>
              </a:lnSpc>
            </a:pPr>
            <a:r>
              <a:rPr sz="3000" b="1">
                <a:solidFill>
                  <a:srgbClr val="1A4D3B"/>
                </a:solidFill>
                <a:latin typeface="Helvetica Neue"/>
              </a:rPr>
              <a:t>82</a:t>
            </a:r>
          </a:p>
        </p:txBody>
      </p:sp>
      <p:sp>
        <p:nvSpPr>
          <p:cNvPr id="38" name="TextBox 37"/>
          <p:cNvSpPr txBox="1"/>
          <p:nvPr/>
        </p:nvSpPr>
        <p:spPr>
          <a:xfrm>
            <a:off x="4706112" y="6483096"/>
            <a:ext cx="2749296" cy="457200"/>
          </a:xfrm>
          <a:prstGeom prst="rect">
            <a:avLst/>
          </a:prstGeom>
          <a:noFill/>
        </p:spPr>
        <p:txBody>
          <a:bodyPr wrap="square" anchor="t" lIns="0" rIns="0" tIns="0" bIns="0">
            <a:spAutoFit/>
          </a:bodyPr>
          <a:lstStyle/>
          <a:p>
            <a:pPr algn="l">
              <a:lnSpc>
                <a:spcPct val="125000"/>
              </a:lnSpc>
            </a:pPr>
            <a:r>
              <a:rPr sz="1200" b="0">
                <a:solidFill>
                  <a:srgbClr val="5A5F5B"/>
                </a:solidFill>
                <a:latin typeface="Helvetica Neue"/>
              </a:rPr>
              <a:t>Data entities</a:t>
            </a:r>
          </a:p>
        </p:txBody>
      </p:sp>
      <p:sp>
        <p:nvSpPr>
          <p:cNvPr id="39" name="Rectangle 38"/>
          <p:cNvSpPr/>
          <p:nvPr/>
        </p:nvSpPr>
        <p:spPr>
          <a:xfrm>
            <a:off x="8040624" y="5568696"/>
            <a:ext cx="3297936" cy="14813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40624" y="5568696"/>
            <a:ext cx="3297936" cy="50292"/>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14944" y="5843016"/>
            <a:ext cx="2749296" cy="640080"/>
          </a:xfrm>
          <a:prstGeom prst="rect">
            <a:avLst/>
          </a:prstGeom>
          <a:noFill/>
        </p:spPr>
        <p:txBody>
          <a:bodyPr wrap="square" anchor="t" lIns="0" rIns="0" tIns="0" bIns="0">
            <a:spAutoFit/>
          </a:bodyPr>
          <a:lstStyle/>
          <a:p>
            <a:pPr algn="l">
              <a:lnSpc>
                <a:spcPct val="105000"/>
              </a:lnSpc>
            </a:pPr>
            <a:r>
              <a:rPr sz="3000" b="1">
                <a:solidFill>
                  <a:srgbClr val="1A4D3B"/>
                </a:solidFill>
                <a:latin typeface="Helvetica Neue"/>
              </a:rPr>
              <a:t>$9.99 / $29.99</a:t>
            </a:r>
          </a:p>
        </p:txBody>
      </p:sp>
      <p:sp>
        <p:nvSpPr>
          <p:cNvPr id="42" name="TextBox 41"/>
          <p:cNvSpPr txBox="1"/>
          <p:nvPr/>
        </p:nvSpPr>
        <p:spPr>
          <a:xfrm>
            <a:off x="8314944" y="6483096"/>
            <a:ext cx="2749296" cy="457200"/>
          </a:xfrm>
          <a:prstGeom prst="rect">
            <a:avLst/>
          </a:prstGeom>
          <a:noFill/>
        </p:spPr>
        <p:txBody>
          <a:bodyPr wrap="square" anchor="t" lIns="0" rIns="0" tIns="0" bIns="0">
            <a:spAutoFit/>
          </a:bodyPr>
          <a:lstStyle/>
          <a:p>
            <a:pPr algn="l">
              <a:lnSpc>
                <a:spcPct val="125000"/>
              </a:lnSpc>
            </a:pPr>
            <a:r>
              <a:rPr sz="1200" b="0">
                <a:solidFill>
                  <a:srgbClr val="5A5F5B"/>
                </a:solidFill>
                <a:latin typeface="Helvetica Neue"/>
              </a:rPr>
              <a:t>Individual / Business per month, 7-day trial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02</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The Walkthrough</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46 features, in demo order. Personal → Business → Property → Tax → Trust → Platform.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SHORT VERSION</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If you only have 10 minutes</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1600" b="0">
                <a:solidFill>
                  <a:srgbClr val="5A5F5B"/>
                </a:solidFill>
                <a:latin typeface="Helvetica Neue"/>
              </a:rPr>
              <a:t>Run these seven moments:</a:t>
            </a:r>
          </a:p>
          <a:p>
            <a:pPr algn="l">
              <a:lnSpc>
                <a:spcPct val="130000"/>
              </a:lnSpc>
              <a:spcBef>
                <a:spcPts val="1400"/>
              </a:spcBef>
            </a:pPr>
            <a:r>
              <a:rPr sz="1700" b="1">
                <a:solidFill>
                  <a:srgbClr val="1C1C1A"/>
                </a:solidFill>
                <a:latin typeface="Helvetica Neue"/>
              </a:rPr>
              <a:t>1   ·  Net Worth Dashboard — the one number</a:t>
            </a:r>
          </a:p>
          <a:p>
            <a:pPr algn="l">
              <a:lnSpc>
                <a:spcPct val="130000"/>
              </a:lnSpc>
              <a:spcBef>
                <a:spcPts val="800"/>
              </a:spcBef>
            </a:pPr>
            <a:r>
              <a:rPr sz="1700" b="1">
                <a:solidFill>
                  <a:srgbClr val="1C1C1A"/>
                </a:solidFill>
                <a:latin typeface="Helvetica Neue"/>
              </a:rPr>
              <a:t>11 ·  Multi-Business Command Center</a:t>
            </a:r>
          </a:p>
          <a:p>
            <a:pPr algn="l">
              <a:lnSpc>
                <a:spcPct val="130000"/>
              </a:lnSpc>
              <a:spcBef>
                <a:spcPts val="800"/>
              </a:spcBef>
            </a:pPr>
            <a:r>
              <a:rPr sz="1700" b="1">
                <a:solidFill>
                  <a:srgbClr val="C9973A"/>
                </a:solidFill>
                <a:latin typeface="Helvetica Neue"/>
              </a:rPr>
              <a:t>12 ·  90-Day Cash Forecast   ← strongest moment in the demo</a:t>
            </a:r>
          </a:p>
          <a:p>
            <a:pPr algn="l">
              <a:lnSpc>
                <a:spcPct val="130000"/>
              </a:lnSpc>
              <a:spcBef>
                <a:spcPts val="800"/>
              </a:spcBef>
            </a:pPr>
            <a:r>
              <a:rPr sz="1700" b="1">
                <a:solidFill>
                  <a:srgbClr val="1C1C1A"/>
                </a:solidFill>
                <a:latin typeface="Helvetica Neue"/>
              </a:rPr>
              <a:t>13 ·  AR Aging — the reason why</a:t>
            </a:r>
          </a:p>
          <a:p>
            <a:pPr algn="l">
              <a:lnSpc>
                <a:spcPct val="130000"/>
              </a:lnSpc>
              <a:spcBef>
                <a:spcPts val="800"/>
              </a:spcBef>
            </a:pPr>
            <a:r>
              <a:rPr sz="1700" b="1">
                <a:solidFill>
                  <a:srgbClr val="1C1C1A"/>
                </a:solidFill>
                <a:latin typeface="Helvetica Neue"/>
              </a:rPr>
              <a:t>14 ·  Invoicing &amp; bulk reminders — the fix</a:t>
            </a:r>
          </a:p>
          <a:p>
            <a:pPr algn="l">
              <a:lnSpc>
                <a:spcPct val="130000"/>
              </a:lnSpc>
              <a:spcBef>
                <a:spcPts val="800"/>
              </a:spcBef>
            </a:pPr>
            <a:r>
              <a:rPr sz="1700" b="1">
                <a:solidFill>
                  <a:srgbClr val="1C1C1A"/>
                </a:solidFill>
                <a:latin typeface="Helvetica Neue"/>
              </a:rPr>
              <a:t>25 ·  Property portfolio</a:t>
            </a:r>
          </a:p>
          <a:p>
            <a:pPr algn="l">
              <a:lnSpc>
                <a:spcPct val="130000"/>
              </a:lnSpc>
              <a:spcBef>
                <a:spcPts val="800"/>
              </a:spcBef>
            </a:pPr>
            <a:r>
              <a:rPr sz="1700" b="1">
                <a:solidFill>
                  <a:srgbClr val="C9973A"/>
                </a:solidFill>
                <a:latin typeface="Helvetica Neue"/>
              </a:rPr>
              <a:t>29–31 ·  Tax engine   ← most differentiated screen</a:t>
            </a:r>
          </a:p>
          <a:p>
            <a:pPr algn="l">
              <a:lnSpc>
                <a:spcPct val="130000"/>
              </a:lnSpc>
              <a:spcBef>
                <a:spcPts val="800"/>
              </a:spcBef>
            </a:pPr>
            <a:r>
              <a:rPr sz="1700" b="1">
                <a:solidFill>
                  <a:srgbClr val="1C1C1A"/>
                </a:solidFill>
                <a:latin typeface="Helvetica Neue"/>
              </a:rPr>
              <a:t>34 ·  CPA secure sharing — the payoff</a:t>
            </a:r>
          </a:p>
          <a:p>
            <a:pPr algn="l">
              <a:lnSpc>
                <a:spcPct val="130000"/>
              </a:lnSpc>
              <a:spcBef>
                <a:spcPts val="1800"/>
              </a:spcBef>
            </a:pPr>
            <a:r>
              <a:rPr sz="1400" b="0">
                <a:solidFill>
                  <a:srgbClr val="5A5F5B"/>
                </a:solidFill>
                <a:latin typeface="Helvetica Neue"/>
              </a:rPr>
              <a:t>If you can keep only two: the cash forecast and the tax screen. Nobody else in the market can show either.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A</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Personal Money</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Sidebar: Finance   ·   Features 1–10   ·   ~5 minutes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   ·   ★ CORE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Net Worth Dashboard</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One number — everything owned minus everything owed — charted over time, with a breakdown of what moved it.</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Land on Home (already logged in before the call).</a:t>
            </a:r>
          </a:p>
          <a:p>
            <a:pPr algn="l">
              <a:lnSpc>
                <a:spcPct val="122000"/>
              </a:lnSpc>
              <a:spcBef>
                <a:spcPts val="700"/>
              </a:spcBef>
            </a:pPr>
            <a:r>
              <a:rPr sz="1400" b="0">
                <a:solidFill>
                  <a:srgbClr val="1C1C1A"/>
                </a:solidFill>
                <a:latin typeface="Helvetica Neue"/>
              </a:rPr>
              <a:t>2.  Pause on the net worth figure. Don't rush past it.</a:t>
            </a:r>
          </a:p>
          <a:p>
            <a:pPr algn="l">
              <a:lnSpc>
                <a:spcPct val="122000"/>
              </a:lnSpc>
              <a:spcBef>
                <a:spcPts val="700"/>
              </a:spcBef>
            </a:pPr>
            <a:r>
              <a:rPr sz="1400" b="0">
                <a:solidFill>
                  <a:srgbClr val="1C1C1A"/>
                </a:solidFill>
                <a:latin typeface="Helvetica Neue"/>
              </a:rPr>
              <a:t>3.  Change the chart range to show it's live.</a:t>
            </a:r>
          </a:p>
          <a:p>
            <a:pPr algn="l">
              <a:lnSpc>
                <a:spcPct val="122000"/>
              </a:lnSpc>
              <a:spcBef>
                <a:spcPts val="700"/>
              </a:spcBef>
            </a:pPr>
            <a:r>
              <a:rPr sz="1400" b="0">
                <a:solidFill>
                  <a:srgbClr val="1C1C1A"/>
                </a:solidFill>
                <a:latin typeface="Helvetica Neue"/>
              </a:rPr>
              <a:t>4.  Switch chart type — Area / Line / Bars.</a:t>
            </a:r>
          </a:p>
          <a:p>
            <a:pPr algn="l">
              <a:lnSpc>
                <a:spcPct val="122000"/>
              </a:lnSpc>
              <a:spcBef>
                <a:spcPts val="700"/>
              </a:spcBef>
            </a:pPr>
            <a:r>
              <a:rPr sz="1400" b="0">
                <a:solidFill>
                  <a:srgbClr val="1C1C1A"/>
                </a:solidFill>
                <a:latin typeface="Helvetica Neue"/>
              </a:rPr>
              <a:t>5.  Open the “what moved it” contributor breakdown.</a:t>
            </a:r>
          </a:p>
          <a:p>
            <a:pPr algn="l">
              <a:lnSpc>
                <a:spcPct val="122000"/>
              </a:lnSpc>
              <a:spcBef>
                <a:spcPts val="700"/>
              </a:spcBef>
            </a:pPr>
            <a:r>
              <a:rPr sz="1400" b="0">
                <a:solidFill>
                  <a:srgbClr val="1C1C1A"/>
                </a:solidFill>
                <a:latin typeface="Helvetica Neue"/>
              </a:rPr>
              <a:t>6.  Point out KPI cards and upcoming bills below.</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“One number. Everything she owns minus everything she owes. This used to take her an afternoon. Now it's the home screen. And it doesn't just show the number — it shows why it changed.”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Account Linking</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Connect real bank and brokerage accounts. Balances and transactions flow in, and everything else updates from them.</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Accounts.</a:t>
            </a:r>
          </a:p>
          <a:p>
            <a:pPr algn="l">
              <a:lnSpc>
                <a:spcPct val="122000"/>
              </a:lnSpc>
              <a:spcBef>
                <a:spcPts val="700"/>
              </a:spcBef>
            </a:pPr>
            <a:r>
              <a:rPr sz="1400" b="0">
                <a:solidFill>
                  <a:srgbClr val="1C1C1A"/>
                </a:solidFill>
                <a:latin typeface="Helvetica Neue"/>
              </a:rPr>
              <a:t>2.  Show grouped account cards and the KPI row.</a:t>
            </a:r>
          </a:p>
          <a:p>
            <a:pPr algn="l">
              <a:lnSpc>
                <a:spcPct val="122000"/>
              </a:lnSpc>
              <a:spcBef>
                <a:spcPts val="700"/>
              </a:spcBef>
            </a:pPr>
            <a:r>
              <a:rPr sz="1400" b="0">
                <a:solidFill>
                  <a:srgbClr val="1C1C1A"/>
                </a:solidFill>
                <a:latin typeface="Helvetica Neue"/>
              </a:rPr>
              <a:t>3.  Click Link account to open the connection flow.</a:t>
            </a:r>
          </a:p>
          <a:p>
            <a:pPr algn="l">
              <a:lnSpc>
                <a:spcPct val="122000"/>
              </a:lnSpc>
              <a:spcBef>
                <a:spcPts val="700"/>
              </a:spcBef>
            </a:pPr>
            <a:r>
              <a:rPr sz="1400" b="0">
                <a:solidFill>
                  <a:srgbClr val="1C1C1A"/>
                </a:solidFill>
                <a:latin typeface="Helvetica Neue"/>
              </a:rPr>
              <a:t>4.  Select an institution; walk the bank's own login screen.</a:t>
            </a:r>
          </a:p>
          <a:p>
            <a:pPr algn="l">
              <a:lnSpc>
                <a:spcPct val="122000"/>
              </a:lnSpc>
              <a:spcBef>
                <a:spcPts val="700"/>
              </a:spcBef>
            </a:pPr>
            <a:r>
              <a:rPr sz="1400" b="0">
                <a:solidFill>
                  <a:srgbClr val="1C1C1A"/>
                </a:solidFill>
                <a:latin typeface="Helvetica Neue"/>
              </a:rPr>
              <a:t>5.  Return to Accounts — show the new account in the list.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“This is how her money gets in. She picks her bank, logs in on the bank's own secure screen, and we never see her password. Balances and transactions flow from there.”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Transactions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Every transaction, filterable, with re-categorization that feeds budgets and taxes downstream.</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Transactions.</a:t>
            </a:r>
          </a:p>
          <a:p>
            <a:pPr algn="l">
              <a:lnSpc>
                <a:spcPct val="122000"/>
              </a:lnSpc>
              <a:spcBef>
                <a:spcPts val="700"/>
              </a:spcBef>
            </a:pPr>
            <a:r>
              <a:rPr sz="1400" b="0">
                <a:solidFill>
                  <a:srgbClr val="1C1C1A"/>
                </a:solidFill>
                <a:latin typeface="Helvetica Neue"/>
              </a:rPr>
              <a:t>2.  Filter by date range, then category, then amount.</a:t>
            </a:r>
          </a:p>
          <a:p>
            <a:pPr algn="l">
              <a:lnSpc>
                <a:spcPct val="122000"/>
              </a:lnSpc>
              <a:spcBef>
                <a:spcPts val="700"/>
              </a:spcBef>
            </a:pPr>
            <a:r>
              <a:rPr sz="1400" b="0">
                <a:solidFill>
                  <a:srgbClr val="1C1C1A"/>
                </a:solidFill>
                <a:latin typeface="Helvetica Neue"/>
              </a:rPr>
              <a:t>3.  Sort a column.</a:t>
            </a:r>
          </a:p>
          <a:p>
            <a:pPr algn="l">
              <a:lnSpc>
                <a:spcPct val="122000"/>
              </a:lnSpc>
              <a:spcBef>
                <a:spcPts val="700"/>
              </a:spcBef>
            </a:pPr>
            <a:r>
              <a:rPr sz="1400" b="0">
                <a:solidFill>
                  <a:srgbClr val="1C1C1A"/>
                </a:solidFill>
                <a:latin typeface="Helvetica Neue"/>
              </a:rPr>
              <a:t>4.  Re-categorize one transaction and show it update.</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“Every transaction, filterable. And she can re-categorize anything — which matters, because these categories feed her budgets and her tax numbers later.”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4</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Budgets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Spending plan with 50/30/20 presets across Needs, Wants and Savings, with over-budget alerts.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Budgets.</a:t>
            </a:r>
          </a:p>
          <a:p>
            <a:pPr algn="l">
              <a:lnSpc>
                <a:spcPct val="122000"/>
              </a:lnSpc>
              <a:spcBef>
                <a:spcPts val="700"/>
              </a:spcBef>
            </a:pPr>
            <a:r>
              <a:rPr sz="1400" b="0">
                <a:solidFill>
                  <a:srgbClr val="1C1C1A"/>
                </a:solidFill>
                <a:latin typeface="Helvetica Neue"/>
              </a:rPr>
              <a:t>2.  Apply the 50/30/20 preset.</a:t>
            </a:r>
          </a:p>
          <a:p>
            <a:pPr algn="l">
              <a:lnSpc>
                <a:spcPct val="122000"/>
              </a:lnSpc>
              <a:spcBef>
                <a:spcPts val="700"/>
              </a:spcBef>
            </a:pPr>
            <a:r>
              <a:rPr sz="1400" b="0">
                <a:solidFill>
                  <a:srgbClr val="1C1C1A"/>
                </a:solidFill>
                <a:latin typeface="Helvetica Neue"/>
              </a:rPr>
              <a:t>3.  Show Needs / Wants / Savings against actual spend.</a:t>
            </a:r>
          </a:p>
          <a:p>
            <a:pPr algn="l">
              <a:lnSpc>
                <a:spcPct val="122000"/>
              </a:lnSpc>
              <a:spcBef>
                <a:spcPts val="700"/>
              </a:spcBef>
            </a:pPr>
            <a:r>
              <a:rPr sz="1400" b="0">
                <a:solidFill>
                  <a:srgbClr val="1C1C1A"/>
                </a:solidFill>
                <a:latin typeface="Helvetica Neue"/>
              </a:rPr>
              <a:t>4.  Change the period.</a:t>
            </a:r>
          </a:p>
          <a:p>
            <a:pPr algn="l">
              <a:lnSpc>
                <a:spcPct val="122000"/>
              </a:lnSpc>
              <a:spcBef>
                <a:spcPts val="700"/>
              </a:spcBef>
            </a:pPr>
            <a:r>
              <a:rPr sz="1400" b="0">
                <a:solidFill>
                  <a:srgbClr val="1C1C1A"/>
                </a:solidFill>
                <a:latin typeface="Helvetica Neue"/>
              </a:rPr>
              <a:t>5.  Point out an over-budget alert.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“What she planned to spend, against what she actually spent — and it tells her when she's over.”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5</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Debt Lab</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Payoff strategy modelling — Avalanche vs Snowball vs Hybrid — with an extra-payment model and a recommendation.</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Debt Lab.</a:t>
            </a:r>
          </a:p>
          <a:p>
            <a:pPr algn="l">
              <a:lnSpc>
                <a:spcPct val="122000"/>
              </a:lnSpc>
              <a:spcBef>
                <a:spcPts val="700"/>
              </a:spcBef>
            </a:pPr>
            <a:r>
              <a:rPr sz="1400" b="0">
                <a:solidFill>
                  <a:srgbClr val="1C1C1A"/>
                </a:solidFill>
                <a:latin typeface="Helvetica Neue"/>
              </a:rPr>
              <a:t>2.  Show the debts table.</a:t>
            </a:r>
          </a:p>
          <a:p>
            <a:pPr algn="l">
              <a:lnSpc>
                <a:spcPct val="122000"/>
              </a:lnSpc>
              <a:spcBef>
                <a:spcPts val="700"/>
              </a:spcBef>
            </a:pPr>
            <a:r>
              <a:rPr sz="1400" b="0">
                <a:solidFill>
                  <a:srgbClr val="1C1C1A"/>
                </a:solidFill>
                <a:latin typeface="Helvetica Neue"/>
              </a:rPr>
              <a:t>3.  Switch Avalanche → Snowball → Hybrid, reading each explainer.</a:t>
            </a:r>
          </a:p>
          <a:p>
            <a:pPr algn="l">
              <a:lnSpc>
                <a:spcPct val="122000"/>
              </a:lnSpc>
              <a:spcBef>
                <a:spcPts val="700"/>
              </a:spcBef>
            </a:pPr>
            <a:r>
              <a:rPr sz="1400" b="0">
                <a:solidFill>
                  <a:srgbClr val="1C1C1A"/>
                </a:solidFill>
                <a:latin typeface="Helvetica Neue"/>
              </a:rPr>
              <a:t>4.  Enter an extra monthly payment; show the timeline change.</a:t>
            </a:r>
          </a:p>
          <a:p>
            <a:pPr algn="l">
              <a:lnSpc>
                <a:spcPct val="122000"/>
              </a:lnSpc>
              <a:spcBef>
                <a:spcPts val="700"/>
              </a:spcBef>
            </a:pPr>
            <a:r>
              <a:rPr sz="1400" b="0">
                <a:solidFill>
                  <a:srgbClr val="1C1C1A"/>
                </a:solidFill>
                <a:latin typeface="Helvetica Neue"/>
              </a:rPr>
              <a:t>5.  Open the cross-strategy comparison — cheapest vs fastest.</a:t>
            </a:r>
          </a:p>
          <a:p>
            <a:pPr algn="l">
              <a:lnSpc>
                <a:spcPct val="122000"/>
              </a:lnSpc>
              <a:spcBef>
                <a:spcPts val="700"/>
              </a:spcBef>
            </a:pPr>
            <a:r>
              <a:rPr sz="1400" b="0">
                <a:solidFill>
                  <a:srgbClr val="1C1C1A"/>
                </a:solidFill>
                <a:latin typeface="Helvetica Neue"/>
              </a:rPr>
              <a:t>6.  Point at the recommended plan.</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“Avalanche is cheapest. Snowball is fastest to feel like progress. It compares them side by side, models paying extra, and recommends one. Most apps show you your debt. This one tells you what to do about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6</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Goals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Savings targets with progress tracking and required-monthly math.</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Goals.</a:t>
            </a:r>
          </a:p>
          <a:p>
            <a:pPr algn="l">
              <a:lnSpc>
                <a:spcPct val="122000"/>
              </a:lnSpc>
              <a:spcBef>
                <a:spcPts val="700"/>
              </a:spcBef>
            </a:pPr>
            <a:r>
              <a:rPr sz="1400" b="0">
                <a:solidFill>
                  <a:srgbClr val="1C1C1A"/>
                </a:solidFill>
                <a:latin typeface="Helvetica Neue"/>
              </a:rPr>
              <a:t>2.  Create a goal — name, target amount, target date.</a:t>
            </a:r>
          </a:p>
          <a:p>
            <a:pPr algn="l">
              <a:lnSpc>
                <a:spcPct val="122000"/>
              </a:lnSpc>
              <a:spcBef>
                <a:spcPts val="700"/>
              </a:spcBef>
            </a:pPr>
            <a:r>
              <a:rPr sz="1400" b="0">
                <a:solidFill>
                  <a:srgbClr val="1C1C1A"/>
                </a:solidFill>
                <a:latin typeface="Helvetica Neue"/>
              </a:rPr>
              <a:t>3.  Show the required monthly contribution it calculates.</a:t>
            </a:r>
          </a:p>
          <a:p>
            <a:pPr algn="l">
              <a:lnSpc>
                <a:spcPct val="122000"/>
              </a:lnSpc>
              <a:spcBef>
                <a:spcPts val="700"/>
              </a:spcBef>
            </a:pPr>
            <a:r>
              <a:rPr sz="1400" b="0">
                <a:solidFill>
                  <a:srgbClr val="1C1C1A"/>
                </a:solidFill>
                <a:latin typeface="Helvetica Neue"/>
              </a:rPr>
              <a:t>4.  Show progress on an existing goal.</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“Set a target, and it works out exactly what she needs to put away each month to hit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7</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Calculators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Built-in financial math — mortgage payoff, extra payments, compound and simple interest.</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Calculators.</a:t>
            </a:r>
          </a:p>
          <a:p>
            <a:pPr algn="l">
              <a:lnSpc>
                <a:spcPct val="122000"/>
              </a:lnSpc>
              <a:spcBef>
                <a:spcPts val="700"/>
              </a:spcBef>
            </a:pPr>
            <a:r>
              <a:rPr sz="1400" b="0">
                <a:solidFill>
                  <a:srgbClr val="1C1C1A"/>
                </a:solidFill>
                <a:latin typeface="Helvetica Neue"/>
              </a:rPr>
              <a:t>2.  Run mortgage payoff with a realistic loan.</a:t>
            </a:r>
          </a:p>
          <a:p>
            <a:pPr algn="l">
              <a:lnSpc>
                <a:spcPct val="122000"/>
              </a:lnSpc>
              <a:spcBef>
                <a:spcPts val="700"/>
              </a:spcBef>
            </a:pPr>
            <a:r>
              <a:rPr sz="1400" b="0">
                <a:solidFill>
                  <a:srgbClr val="1C1C1A"/>
                </a:solidFill>
                <a:latin typeface="Helvetica Neue"/>
              </a:rPr>
              <a:t>3.  Add an extra monthly payment — show interest saved and time cut.</a:t>
            </a:r>
          </a:p>
          <a:p>
            <a:pPr algn="l">
              <a:lnSpc>
                <a:spcPct val="122000"/>
              </a:lnSpc>
              <a:spcBef>
                <a:spcPts val="700"/>
              </a:spcBef>
            </a:pPr>
            <a:r>
              <a:rPr sz="1400" b="0">
                <a:solidFill>
                  <a:srgbClr val="1C1C1A"/>
                </a:solidFill>
                <a:latin typeface="Helvetica Neue"/>
              </a:rPr>
              <a:t>4.  Show the compound interest calculator.</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“The quick math, built in — so she isn't opening a browser tab mid-decision.”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8</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Investments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Holdings, connected brokers, and alternative investments.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Investments.</a:t>
            </a:r>
          </a:p>
          <a:p>
            <a:pPr algn="l">
              <a:lnSpc>
                <a:spcPct val="122000"/>
              </a:lnSpc>
              <a:spcBef>
                <a:spcPts val="700"/>
              </a:spcBef>
            </a:pPr>
            <a:r>
              <a:rPr sz="1400" b="0">
                <a:solidFill>
                  <a:srgbClr val="1C1C1A"/>
                </a:solidFill>
                <a:latin typeface="Helvetica Neue"/>
              </a:rPr>
              <a:t>2.  Show the holdings list.</a:t>
            </a:r>
          </a:p>
          <a:p>
            <a:pPr algn="l">
              <a:lnSpc>
                <a:spcPct val="122000"/>
              </a:lnSpc>
              <a:spcBef>
                <a:spcPts val="700"/>
              </a:spcBef>
            </a:pPr>
            <a:r>
              <a:rPr sz="1400" b="0">
                <a:solidFill>
                  <a:srgbClr val="1C1C1A"/>
                </a:solidFill>
                <a:latin typeface="Helvetica Neue"/>
              </a:rPr>
              <a:t>3.  Show connect a broker.</a:t>
            </a:r>
          </a:p>
          <a:p>
            <a:pPr algn="l">
              <a:lnSpc>
                <a:spcPct val="122000"/>
              </a:lnSpc>
              <a:spcBef>
                <a:spcPts val="700"/>
              </a:spcBef>
            </a:pPr>
            <a:r>
              <a:rPr sz="1400" b="0">
                <a:solidFill>
                  <a:srgbClr val="1C1C1A"/>
                </a:solidFill>
                <a:latin typeface="Helvetica Neue"/>
              </a:rPr>
              <a:t>4.  Open Alternatives and add an alternative investment.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“Her investments — including alternatives, which matters for this customer, because a lot of their wealth isn't in a normal brokerage account.”</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[MISSING: confirm Alternatives add-flow fields; is Marketplace demo-ready?]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9</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Cash Position</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What's actually liquid right now, with account freshness status.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Cash.</a:t>
            </a:r>
          </a:p>
          <a:p>
            <a:pPr algn="l">
              <a:lnSpc>
                <a:spcPct val="122000"/>
              </a:lnSpc>
              <a:spcBef>
                <a:spcPts val="700"/>
              </a:spcBef>
            </a:pPr>
            <a:r>
              <a:rPr sz="1400" b="0">
                <a:solidFill>
                  <a:srgbClr val="1C1C1A"/>
                </a:solidFill>
                <a:latin typeface="Helvetica Neue"/>
              </a:rPr>
              <a:t>2.  Show the cash position total.</a:t>
            </a:r>
          </a:p>
          <a:p>
            <a:pPr algn="l">
              <a:lnSpc>
                <a:spcPct val="122000"/>
              </a:lnSpc>
              <a:spcBef>
                <a:spcPts val="700"/>
              </a:spcBef>
            </a:pPr>
            <a:r>
              <a:rPr sz="1400" b="0">
                <a:solidFill>
                  <a:srgbClr val="1C1C1A"/>
                </a:solidFill>
                <a:latin typeface="Helvetica Neue"/>
              </a:rPr>
              <a:t>3.  Point at status indicators — Healthy / Stale / Action required.</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“What she actually has liquid — and it flags accounts that have gone stale, so the number stays trustworthy.”</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[MISSING: confirm layout — do card balances live here or under My Business?]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10</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Bill Pay</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Multi-step payment: payee → amount → funding → schedule → confirm, with duplicate protection and cancellation.</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Pay Bills.</a:t>
            </a:r>
          </a:p>
          <a:p>
            <a:pPr algn="l">
              <a:lnSpc>
                <a:spcPct val="122000"/>
              </a:lnSpc>
              <a:spcBef>
                <a:spcPts val="700"/>
              </a:spcBef>
            </a:pPr>
            <a:r>
              <a:rPr sz="1400" b="0">
                <a:solidFill>
                  <a:srgbClr val="1C1C1A"/>
                </a:solidFill>
                <a:latin typeface="Helvetica Neue"/>
              </a:rPr>
              <a:t>2.  Select or add a payee.</a:t>
            </a:r>
          </a:p>
          <a:p>
            <a:pPr algn="l">
              <a:lnSpc>
                <a:spcPct val="122000"/>
              </a:lnSpc>
              <a:spcBef>
                <a:spcPts val="700"/>
              </a:spcBef>
            </a:pPr>
            <a:r>
              <a:rPr sz="1400" b="0">
                <a:solidFill>
                  <a:srgbClr val="1C1C1A"/>
                </a:solidFill>
                <a:latin typeface="Helvetica Neue"/>
              </a:rPr>
              <a:t>3.  Enter an amount; choose the funding account.</a:t>
            </a:r>
          </a:p>
          <a:p>
            <a:pPr algn="l">
              <a:lnSpc>
                <a:spcPct val="122000"/>
              </a:lnSpc>
              <a:spcBef>
                <a:spcPts val="700"/>
              </a:spcBef>
            </a:pPr>
            <a:r>
              <a:rPr sz="1400" b="0">
                <a:solidFill>
                  <a:srgbClr val="1C1C1A"/>
                </a:solidFill>
                <a:latin typeface="Helvetica Neue"/>
              </a:rPr>
              <a:t>4.  Pick a date, then confirm — show it appear in the list.</a:t>
            </a:r>
          </a:p>
          <a:p>
            <a:pPr algn="l">
              <a:lnSpc>
                <a:spcPct val="122000"/>
              </a:lnSpc>
              <a:spcBef>
                <a:spcPts val="700"/>
              </a:spcBef>
            </a:pPr>
            <a:r>
              <a:rPr sz="1400" b="0">
                <a:solidFill>
                  <a:srgbClr val="1C1C1A"/>
                </a:solidFill>
                <a:latin typeface="Helvetica Neue"/>
              </a:rPr>
              <a:t>5.  Cancel the scheduled payment to show it's reversible.</a:t>
            </a:r>
          </a:p>
          <a:p>
            <a:pPr algn="l">
              <a:lnSpc>
                <a:spcPct val="122000"/>
              </a:lnSpc>
              <a:spcBef>
                <a:spcPts val="700"/>
              </a:spcBef>
            </a:pPr>
            <a:r>
              <a:rPr sz="1400" b="0">
                <a:solidFill>
                  <a:srgbClr val="1C1C1A"/>
                </a:solidFill>
                <a:latin typeface="Helvetica Neue"/>
              </a:rPr>
              <a:t>6.  Point at the sidebar badge showing pending count.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“Who she's paying, how much, from which account, and when. It's built to be safe — double-click and it won't pay twice, and she can cancel before it goes 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B</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The Business Command Center</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Sidebar: My Business   ·   Features 11–24   ·   ~7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11   ·   ★★ CORE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Multi-Business Command Center</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Each company as its own isolated set of books, plus a combined view, with a health score across the top.</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My Business → Overview tab.</a:t>
            </a:r>
          </a:p>
          <a:p>
            <a:pPr algn="l">
              <a:lnSpc>
                <a:spcPct val="122000"/>
              </a:lnSpc>
              <a:spcBef>
                <a:spcPts val="700"/>
              </a:spcBef>
            </a:pPr>
            <a:r>
              <a:rPr sz="1400" b="0">
                <a:solidFill>
                  <a:srgbClr val="1C1C1A"/>
                </a:solidFill>
                <a:latin typeface="Helvetica Neue"/>
              </a:rPr>
              <a:t>2.  Show the business switcher — move between entities.</a:t>
            </a:r>
          </a:p>
          <a:p>
            <a:pPr algn="l">
              <a:lnSpc>
                <a:spcPct val="122000"/>
              </a:lnSpc>
              <a:spcBef>
                <a:spcPts val="700"/>
              </a:spcBef>
            </a:pPr>
            <a:r>
              <a:rPr sz="1400" b="0">
                <a:solidFill>
                  <a:srgbClr val="1C1C1A"/>
                </a:solidFill>
                <a:latin typeface="Helvetica Neue"/>
              </a:rPr>
              <a:t>3.  Show the consolidated view across all businesses.</a:t>
            </a:r>
          </a:p>
          <a:p>
            <a:pPr algn="l">
              <a:lnSpc>
                <a:spcPct val="122000"/>
              </a:lnSpc>
              <a:spcBef>
                <a:spcPts val="700"/>
              </a:spcBef>
            </a:pPr>
            <a:r>
              <a:rPr sz="1400" b="0">
                <a:solidFill>
                  <a:srgbClr val="1C1C1A"/>
                </a:solidFill>
                <a:latin typeface="Helvetica Neue"/>
              </a:rPr>
              <a:t>4.  Point at the business health score.</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“Here's where we're different from every other money app. This is her LLC as its own set of books, completely separate from her personal money. Three companies means three sets of books, plus a combined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12   ·   ★★ CORE — STRONGEST MOMENT</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90-Day Cash Forecast</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Forward-looking cash projection that detects a shortfall before it happens.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On Overview, scroll to the 90-day cash forecast.</a:t>
            </a:r>
          </a:p>
          <a:p>
            <a:pPr algn="l">
              <a:lnSpc>
                <a:spcPct val="122000"/>
              </a:lnSpc>
              <a:spcBef>
                <a:spcPts val="700"/>
              </a:spcBef>
            </a:pPr>
            <a:r>
              <a:rPr sz="1400" b="0">
                <a:solidFill>
                  <a:srgbClr val="1C1C1A"/>
                </a:solidFill>
                <a:latin typeface="Helvetica Neue"/>
              </a:rPr>
              <a:t>2.  Trace the projection line to the shortfall point.</a:t>
            </a:r>
          </a:p>
          <a:p>
            <a:pPr algn="l">
              <a:lnSpc>
                <a:spcPct val="122000"/>
              </a:lnSpc>
              <a:spcBef>
                <a:spcPts val="700"/>
              </a:spcBef>
            </a:pPr>
            <a:r>
              <a:rPr sz="1400" b="0">
                <a:solidFill>
                  <a:srgbClr val="1C1C1A"/>
                </a:solidFill>
                <a:latin typeface="Helvetica Neue"/>
              </a:rPr>
              <a:t>3.  STOP TALKING for two full seconds. Let them read it.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“This is a 90-day cash forecast. It's telling her that in about nine weeks, she runs tight. Most business owners find out they have a cash problem when the money is already gone. This tells her while she can still do something about it. That's the difference between a dashboard and a decision.”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13   ·   ★ CORE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AR Aging</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Everyone who owes money, bucketed by how overdue they are.</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From the forecast, click into AR aging.</a:t>
            </a:r>
          </a:p>
          <a:p>
            <a:pPr algn="l">
              <a:lnSpc>
                <a:spcPct val="122000"/>
              </a:lnSpc>
              <a:spcBef>
                <a:spcPts val="700"/>
              </a:spcBef>
            </a:pPr>
            <a:r>
              <a:rPr sz="1400" b="0">
                <a:solidFill>
                  <a:srgbClr val="1C1C1A"/>
                </a:solidFill>
                <a:latin typeface="Helvetica Neue"/>
              </a:rPr>
              <a:t>2.  Show the aging buckets — 30 / 60 / 90+ days.</a:t>
            </a:r>
          </a:p>
          <a:p>
            <a:pPr algn="l">
              <a:lnSpc>
                <a:spcPct val="122000"/>
              </a:lnSpc>
              <a:spcBef>
                <a:spcPts val="700"/>
              </a:spcBef>
            </a:pPr>
            <a:r>
              <a:rPr sz="1400" b="0">
                <a:solidFill>
                  <a:srgbClr val="1C1C1A"/>
                </a:solidFill>
                <a:latin typeface="Helvetica Neue"/>
              </a:rPr>
              <a:t>3.  Point at the most overdue invoice.</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“And it shows her why. These are her unpaid invoices, sorted by how late they are. This one is 60 days overdue. That's her cash problem, sitting right there.”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14   ·   ★ CORE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Invoicing &amp; Bulk Reminders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Create and send invoices, give customers a public payment page, reconcile payments to bank transactions, and chase every overdue invoice at once.</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Business Tools → Invoices.</a:t>
            </a:r>
          </a:p>
          <a:p>
            <a:pPr algn="l">
              <a:lnSpc>
                <a:spcPct val="122000"/>
              </a:lnSpc>
              <a:spcBef>
                <a:spcPts val="700"/>
              </a:spcBef>
            </a:pPr>
            <a:r>
              <a:rPr sz="1400" b="0">
                <a:solidFill>
                  <a:srgbClr val="1C1C1A"/>
                </a:solidFill>
                <a:latin typeface="Helvetica Neue"/>
              </a:rPr>
              <a:t>2.  Create an invoice — customer, line items, amount, due date.</a:t>
            </a:r>
          </a:p>
          <a:p>
            <a:pPr algn="l">
              <a:lnSpc>
                <a:spcPct val="122000"/>
              </a:lnSpc>
              <a:spcBef>
                <a:spcPts val="700"/>
              </a:spcBef>
            </a:pPr>
            <a:r>
              <a:rPr sz="1400" b="0">
                <a:solidFill>
                  <a:srgbClr val="1C1C1A"/>
                </a:solidFill>
                <a:latin typeface="Helvetica Neue"/>
              </a:rPr>
              <a:t>3.  Send it by email; show the confirmation.</a:t>
            </a:r>
          </a:p>
          <a:p>
            <a:pPr algn="l">
              <a:lnSpc>
                <a:spcPct val="122000"/>
              </a:lnSpc>
              <a:spcBef>
                <a:spcPts val="700"/>
              </a:spcBef>
            </a:pPr>
            <a:r>
              <a:rPr sz="1400" b="0">
                <a:solidFill>
                  <a:srgbClr val="1C1C1A"/>
                </a:solidFill>
                <a:latin typeface="Helvetica Neue"/>
              </a:rPr>
              <a:t>4.  Open the public invoice page in a second tab, as the customer sees it.</a:t>
            </a:r>
          </a:p>
          <a:p>
            <a:pPr algn="l">
              <a:lnSpc>
                <a:spcPct val="122000"/>
              </a:lnSpc>
              <a:spcBef>
                <a:spcPts val="700"/>
              </a:spcBef>
            </a:pPr>
            <a:r>
              <a:rPr sz="1400" b="0">
                <a:solidFill>
                  <a:srgbClr val="1C1C1A"/>
                </a:solidFill>
                <a:latin typeface="Helvetica Neue"/>
              </a:rPr>
              <a:t>5.  Return and click “Remind all overdue”.</a:t>
            </a:r>
          </a:p>
          <a:p>
            <a:pPr algn="l">
              <a:lnSpc>
                <a:spcPct val="122000"/>
              </a:lnSpc>
              <a:spcBef>
                <a:spcPts val="700"/>
              </a:spcBef>
            </a:pPr>
            <a:r>
              <a:rPr sz="1400" b="0">
                <a:solidFill>
                  <a:srgbClr val="1C1C1A"/>
                </a:solidFill>
                <a:latin typeface="Helvetica Neue"/>
              </a:rPr>
              <a:t>6.  Show payment reconciliation linked to a transaction.</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“One click just chased every overdue invoice. Her customer gets a link, opens a payment page, and pays. When the money lands, it matches back against her bank transaction automatically. Problem, reason, and fix — one screen, three clicks. Not a report. A decision.”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15</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Business Transactions Ledger</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Period-aware ledger merging linked bank data with manual entries.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Transactions tab.</a:t>
            </a:r>
          </a:p>
          <a:p>
            <a:pPr algn="l">
              <a:lnSpc>
                <a:spcPct val="122000"/>
              </a:lnSpc>
              <a:spcBef>
                <a:spcPts val="700"/>
              </a:spcBef>
            </a:pPr>
            <a:r>
              <a:rPr sz="1400" b="0">
                <a:solidFill>
                  <a:srgbClr val="1C1C1A"/>
                </a:solidFill>
                <a:latin typeface="Helvetica Neue"/>
              </a:rPr>
              <a:t>2.  Change the period; show figures update.</a:t>
            </a:r>
          </a:p>
          <a:p>
            <a:pPr algn="l">
              <a:lnSpc>
                <a:spcPct val="122000"/>
              </a:lnSpc>
              <a:spcBef>
                <a:spcPts val="700"/>
              </a:spcBef>
            </a:pPr>
            <a:r>
              <a:rPr sz="1400" b="0">
                <a:solidFill>
                  <a:srgbClr val="1C1C1A"/>
                </a:solidFill>
                <a:latin typeface="Helvetica Neue"/>
              </a:rPr>
              <a:t>3.  Add a manual transaction.</a:t>
            </a:r>
          </a:p>
          <a:p>
            <a:pPr algn="l">
              <a:lnSpc>
                <a:spcPct val="122000"/>
              </a:lnSpc>
              <a:spcBef>
                <a:spcPts val="700"/>
              </a:spcBef>
            </a:pPr>
            <a:r>
              <a:rPr sz="1400" b="0">
                <a:solidFill>
                  <a:srgbClr val="1C1C1A"/>
                </a:solidFill>
                <a:latin typeface="Helvetica Neue"/>
              </a:rPr>
              <a:t>4.  Show linked and manual entries in one ledger.</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“Her business ledger — bank data and anything she enters by hand, in one place, for whatever period she's looking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16</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Business Expenses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Dated, categorized business expenses linked to real transactions, with export.</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Expenses tab.</a:t>
            </a:r>
          </a:p>
          <a:p>
            <a:pPr algn="l">
              <a:lnSpc>
                <a:spcPct val="122000"/>
              </a:lnSpc>
              <a:spcBef>
                <a:spcPts val="700"/>
              </a:spcBef>
            </a:pPr>
            <a:r>
              <a:rPr sz="1400" b="0">
                <a:solidFill>
                  <a:srgbClr val="1C1C1A"/>
                </a:solidFill>
                <a:latin typeface="Helvetica Neue"/>
              </a:rPr>
              <a:t>2.  Add an expense — date, category, amount, vendor.</a:t>
            </a:r>
          </a:p>
          <a:p>
            <a:pPr algn="l">
              <a:lnSpc>
                <a:spcPct val="122000"/>
              </a:lnSpc>
              <a:spcBef>
                <a:spcPts val="700"/>
              </a:spcBef>
            </a:pPr>
            <a:r>
              <a:rPr sz="1400" b="0">
                <a:solidFill>
                  <a:srgbClr val="1C1C1A"/>
                </a:solidFill>
                <a:latin typeface="Helvetica Neue"/>
              </a:rPr>
              <a:t>3.  Link it to a transaction.</a:t>
            </a:r>
          </a:p>
          <a:p>
            <a:pPr algn="l">
              <a:lnSpc>
                <a:spcPct val="122000"/>
              </a:lnSpc>
              <a:spcBef>
                <a:spcPts val="700"/>
              </a:spcBef>
            </a:pPr>
            <a:r>
              <a:rPr sz="1400" b="0">
                <a:solidFill>
                  <a:srgbClr val="1C1C1A"/>
                </a:solidFill>
                <a:latin typeface="Helvetica Neue"/>
              </a:rPr>
              <a:t>4.  Export to CSV.</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“Every business expense, dated, categorized, and tied back to the real transaction — so at tax time there's nothing to reconstruct.”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17</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Business Credit Cards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Business card tracking, kept separate from personal cards.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Credit Cards tab.</a:t>
            </a:r>
          </a:p>
          <a:p>
            <a:pPr algn="l">
              <a:lnSpc>
                <a:spcPct val="122000"/>
              </a:lnSpc>
              <a:spcBef>
                <a:spcPts val="700"/>
              </a:spcBef>
            </a:pPr>
            <a:r>
              <a:rPr sz="1400" b="0">
                <a:solidFill>
                  <a:srgbClr val="1C1C1A"/>
                </a:solidFill>
                <a:latin typeface="Helvetica Neue"/>
              </a:rPr>
              <a:t>2.  Show card balances and activity.</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“Business cards tracked separately from personal — which sounds obvious, and is exactly what gets messy when you're running both from one wallet.”</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[MISSING: are cards added manually or pulled from linked accounts?]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18</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Budgets &amp; Variance</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Business spending plan versus actuals.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Business Tools → Budgets.</a:t>
            </a:r>
          </a:p>
          <a:p>
            <a:pPr algn="l">
              <a:lnSpc>
                <a:spcPct val="122000"/>
              </a:lnSpc>
              <a:spcBef>
                <a:spcPts val="700"/>
              </a:spcBef>
            </a:pPr>
            <a:r>
              <a:rPr sz="1400" b="0">
                <a:solidFill>
                  <a:srgbClr val="1C1C1A"/>
                </a:solidFill>
                <a:latin typeface="Helvetica Neue"/>
              </a:rPr>
              <a:t>2.  Set a budget for a category.</a:t>
            </a:r>
          </a:p>
          <a:p>
            <a:pPr algn="l">
              <a:lnSpc>
                <a:spcPct val="122000"/>
              </a:lnSpc>
              <a:spcBef>
                <a:spcPts val="700"/>
              </a:spcBef>
            </a:pPr>
            <a:r>
              <a:rPr sz="1400" b="0">
                <a:solidFill>
                  <a:srgbClr val="1C1C1A"/>
                </a:solidFill>
                <a:latin typeface="Helvetica Neue"/>
              </a:rPr>
              <a:t>3.  Show the variance against actual spend.</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“What she planned to spend in the business, against what she actually spent.”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19</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Business Goals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Cash reserve and tax set-aside targets.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Business Tools → Goals.</a:t>
            </a:r>
          </a:p>
          <a:p>
            <a:pPr algn="l">
              <a:lnSpc>
                <a:spcPct val="122000"/>
              </a:lnSpc>
              <a:spcBef>
                <a:spcPts val="700"/>
              </a:spcBef>
            </a:pPr>
            <a:r>
              <a:rPr sz="1400" b="0">
                <a:solidFill>
                  <a:srgbClr val="1C1C1A"/>
                </a:solidFill>
                <a:latin typeface="Helvetica Neue"/>
              </a:rPr>
              <a:t>2.  Set a cash reserve target.</a:t>
            </a:r>
          </a:p>
          <a:p>
            <a:pPr algn="l">
              <a:lnSpc>
                <a:spcPct val="122000"/>
              </a:lnSpc>
              <a:spcBef>
                <a:spcPts val="700"/>
              </a:spcBef>
            </a:pPr>
            <a:r>
              <a:rPr sz="1400" b="0">
                <a:solidFill>
                  <a:srgbClr val="1C1C1A"/>
                </a:solidFill>
                <a:latin typeface="Helvetica Neue"/>
              </a:rPr>
              <a:t>3.  Set a tax set-aside target.</a:t>
            </a:r>
          </a:p>
          <a:p>
            <a:pPr algn="l">
              <a:lnSpc>
                <a:spcPct val="122000"/>
              </a:lnSpc>
              <a:spcBef>
                <a:spcPts val="700"/>
              </a:spcBef>
            </a:pPr>
            <a:r>
              <a:rPr sz="1400" b="0">
                <a:solidFill>
                  <a:srgbClr val="1C1C1A"/>
                </a:solidFill>
                <a:latin typeface="Helvetica Neue"/>
              </a:rPr>
              <a:t>4.  Show progress against both.</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“A cash reserve, and a tax set-aside — so the tax money is put away before she spends it. Every self-employed person has learned that lesson the hard way.”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20</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Vendor Management</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Vendor spend, contract status, and renewal alerts.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Business Tools → Vendors.</a:t>
            </a:r>
          </a:p>
          <a:p>
            <a:pPr algn="l">
              <a:lnSpc>
                <a:spcPct val="122000"/>
              </a:lnSpc>
              <a:spcBef>
                <a:spcPts val="700"/>
              </a:spcBef>
            </a:pPr>
            <a:r>
              <a:rPr sz="1400" b="0">
                <a:solidFill>
                  <a:srgbClr val="1C1C1A"/>
                </a:solidFill>
                <a:latin typeface="Helvetica Neue"/>
              </a:rPr>
              <a:t>2.  Show computed vendor spend, ranked.</a:t>
            </a:r>
          </a:p>
          <a:p>
            <a:pPr algn="l">
              <a:lnSpc>
                <a:spcPct val="122000"/>
              </a:lnSpc>
              <a:spcBef>
                <a:spcPts val="700"/>
              </a:spcBef>
            </a:pPr>
            <a:r>
              <a:rPr sz="1400" b="0">
                <a:solidFill>
                  <a:srgbClr val="1C1C1A"/>
                </a:solidFill>
                <a:latin typeface="Helvetica Neue"/>
              </a:rPr>
              <a:t>3.  Open a vendor; set status, renewal date, notes.</a:t>
            </a:r>
          </a:p>
          <a:p>
            <a:pPr algn="l">
              <a:lnSpc>
                <a:spcPct val="122000"/>
              </a:lnSpc>
              <a:spcBef>
                <a:spcPts val="700"/>
              </a:spcBef>
            </a:pPr>
            <a:r>
              <a:rPr sz="1400" b="0">
                <a:solidFill>
                  <a:srgbClr val="1C1C1A"/>
                </a:solidFill>
                <a:latin typeface="Helvetica Neue"/>
              </a:rPr>
              <a:t>4.  Point at a renewal alert.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“Everyone she pays, what she pays them, and a warning before a contract auto-renews.”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21</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Recurring &amp; Subscription Detection</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Automatic detection of repeating charges, plus per-customer payment behaviour.</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Business Tools → Recurring.</a:t>
            </a:r>
          </a:p>
          <a:p>
            <a:pPr algn="l">
              <a:lnSpc>
                <a:spcPct val="122000"/>
              </a:lnSpc>
              <a:spcBef>
                <a:spcPts val="700"/>
              </a:spcBef>
            </a:pPr>
            <a:r>
              <a:rPr sz="1400" b="0">
                <a:solidFill>
                  <a:srgbClr val="1C1C1A"/>
                </a:solidFill>
                <a:latin typeface="Helvetica Neue"/>
              </a:rPr>
              <a:t>2.  Show detected recurring charges.</a:t>
            </a:r>
          </a:p>
          <a:p>
            <a:pPr algn="l">
              <a:lnSpc>
                <a:spcPct val="122000"/>
              </a:lnSpc>
              <a:spcBef>
                <a:spcPts val="700"/>
              </a:spcBef>
            </a:pPr>
            <a:r>
              <a:rPr sz="1400" b="0">
                <a:solidFill>
                  <a:srgbClr val="1C1C1A"/>
                </a:solidFill>
                <a:latin typeface="Helvetica Neue"/>
              </a:rPr>
              <a:t>3.  Show per-customer payment behaviour — who pays on time.</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“It spots subscriptions and repeat charges by itself. And on the income side, it learns which customers actually pay on time — which is worth knowing before you take the next job.”</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22</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Business Reports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Cash-basis P&amp;L, balance sheet, and cash flow — exportable.</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Reports tab.</a:t>
            </a:r>
          </a:p>
          <a:p>
            <a:pPr algn="l">
              <a:lnSpc>
                <a:spcPct val="122000"/>
              </a:lnSpc>
              <a:spcBef>
                <a:spcPts val="700"/>
              </a:spcBef>
            </a:pPr>
            <a:r>
              <a:rPr sz="1400" b="0">
                <a:solidFill>
                  <a:srgbClr val="1C1C1A"/>
                </a:solidFill>
                <a:latin typeface="Helvetica Neue"/>
              </a:rPr>
              <a:t>2.  Open the Profit &amp; Loss.</a:t>
            </a:r>
          </a:p>
          <a:p>
            <a:pPr algn="l">
              <a:lnSpc>
                <a:spcPct val="122000"/>
              </a:lnSpc>
              <a:spcBef>
                <a:spcPts val="700"/>
              </a:spcBef>
            </a:pPr>
            <a:r>
              <a:rPr sz="1400" b="0">
                <a:solidFill>
                  <a:srgbClr val="1C1C1A"/>
                </a:solidFill>
                <a:latin typeface="Helvetica Neue"/>
              </a:rPr>
              <a:t>3.  Open the Balance Sheet.</a:t>
            </a:r>
          </a:p>
          <a:p>
            <a:pPr algn="l">
              <a:lnSpc>
                <a:spcPct val="122000"/>
              </a:lnSpc>
              <a:spcBef>
                <a:spcPts val="700"/>
              </a:spcBef>
            </a:pPr>
            <a:r>
              <a:rPr sz="1400" b="0">
                <a:solidFill>
                  <a:srgbClr val="1C1C1A"/>
                </a:solidFill>
                <a:latin typeface="Helvetica Neue"/>
              </a:rPr>
              <a:t>4.  Open the Cash Flow statement.</a:t>
            </a:r>
          </a:p>
          <a:p>
            <a:pPr algn="l">
              <a:lnSpc>
                <a:spcPct val="122000"/>
              </a:lnSpc>
              <a:spcBef>
                <a:spcPts val="700"/>
              </a:spcBef>
            </a:pPr>
            <a:r>
              <a:rPr sz="1400" b="0">
                <a:solidFill>
                  <a:srgbClr val="1C1C1A"/>
                </a:solidFill>
                <a:latin typeface="Helvetica Neue"/>
              </a:rPr>
              <a:t>5.  Export to CSV, then show print-to-PDF.</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“Profit and loss, balance sheet, cash flow — the three statements her accountant will ask for, exportable as a spreadsheet or a PDF.”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23</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Business Documents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Per-business document folders and invoice attachments.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Documents tab.</a:t>
            </a:r>
          </a:p>
          <a:p>
            <a:pPr algn="l">
              <a:lnSpc>
                <a:spcPct val="122000"/>
              </a:lnSpc>
              <a:spcBef>
                <a:spcPts val="700"/>
              </a:spcBef>
            </a:pPr>
            <a:r>
              <a:rPr sz="1400" b="0">
                <a:solidFill>
                  <a:srgbClr val="1C1C1A"/>
                </a:solidFill>
                <a:latin typeface="Helvetica Neue"/>
              </a:rPr>
              <a:t>2.  Upload a file to a business folder.</a:t>
            </a:r>
          </a:p>
          <a:p>
            <a:pPr algn="l">
              <a:lnSpc>
                <a:spcPct val="122000"/>
              </a:lnSpc>
              <a:spcBef>
                <a:spcPts val="700"/>
              </a:spcBef>
            </a:pPr>
            <a:r>
              <a:rPr sz="1400" b="0">
                <a:solidFill>
                  <a:srgbClr val="1C1C1A"/>
                </a:solidFill>
                <a:latin typeface="Helvetica Neue"/>
              </a:rPr>
              <a:t>3.  Show an invoice with an attachment.</a:t>
            </a:r>
          </a:p>
          <a:p>
            <a:pPr algn="l">
              <a:lnSpc>
                <a:spcPct val="122000"/>
              </a:lnSpc>
              <a:spcBef>
                <a:spcPts val="700"/>
              </a:spcBef>
            </a:pPr>
            <a:r>
              <a:rPr sz="1400" b="0">
                <a:solidFill>
                  <a:srgbClr val="1C1C1A"/>
                </a:solidFill>
                <a:latin typeface="Helvetica Neue"/>
              </a:rPr>
              <a:t>4.  Show the All view across businesses, newest first.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“Per-business folders, and receipts attached to the invoices they belong to.”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24</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QuickBooks Import</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Import existing books from QuickBooks Online.</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My Business → Connect QuickBooks.</a:t>
            </a:r>
          </a:p>
          <a:p>
            <a:pPr algn="l">
              <a:lnSpc>
                <a:spcPct val="122000"/>
              </a:lnSpc>
              <a:spcBef>
                <a:spcPts val="700"/>
              </a:spcBef>
            </a:pPr>
            <a:r>
              <a:rPr sz="1400" b="0">
                <a:solidFill>
                  <a:srgbClr val="1C1C1A"/>
                </a:solidFill>
                <a:latin typeface="Helvetica Neue"/>
              </a:rPr>
              <a:t>2.  Show the connection prompt.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“And if she already keeps books in QuickBooks, it imports — she isn't starting over.”</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[MISSING: demo steps for the post-connection import view]</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C</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Property Portfolio</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Sidebar: Real Estate   ·   Features 25–28   ·   ~3 minutes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25   ·   ★ CORE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Property Portfolio</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Each property with estimated value, mortgage balance, real equity, and rental cap rate.</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Properties.</a:t>
            </a:r>
          </a:p>
          <a:p>
            <a:pPr algn="l">
              <a:lnSpc>
                <a:spcPct val="122000"/>
              </a:lnSpc>
              <a:spcBef>
                <a:spcPts val="700"/>
              </a:spcBef>
            </a:pPr>
            <a:r>
              <a:rPr sz="1400" b="0">
                <a:solidFill>
                  <a:srgbClr val="1C1C1A"/>
                </a:solidFill>
                <a:latin typeface="Helvetica Neue"/>
              </a:rPr>
              <a:t>2.  Show the portfolio — value, debt, equity per property.</a:t>
            </a:r>
          </a:p>
          <a:p>
            <a:pPr algn="l">
              <a:lnSpc>
                <a:spcPct val="122000"/>
              </a:lnSpc>
              <a:spcBef>
                <a:spcPts val="700"/>
              </a:spcBef>
            </a:pPr>
            <a:r>
              <a:rPr sz="1400" b="0">
                <a:solidFill>
                  <a:srgbClr val="1C1C1A"/>
                </a:solidFill>
                <a:latin typeface="Helvetica Neue"/>
              </a:rPr>
              <a:t>3.  Add a property — address, purchase price, mortgage.</a:t>
            </a:r>
          </a:p>
          <a:p>
            <a:pPr algn="l">
              <a:lnSpc>
                <a:spcPct val="122000"/>
              </a:lnSpc>
              <a:spcBef>
                <a:spcPts val="700"/>
              </a:spcBef>
            </a:pPr>
            <a:r>
              <a:rPr sz="1400" b="0">
                <a:solidFill>
                  <a:srgbClr val="1C1C1A"/>
                </a:solidFill>
                <a:latin typeface="Helvetica Neue"/>
              </a:rPr>
              <a:t>4.  Show the auto-estimated value from market data.</a:t>
            </a:r>
          </a:p>
          <a:p>
            <a:pPr algn="l">
              <a:lnSpc>
                <a:spcPct val="122000"/>
              </a:lnSpc>
              <a:spcBef>
                <a:spcPts val="700"/>
              </a:spcBef>
            </a:pPr>
            <a:r>
              <a:rPr sz="1400" b="0">
                <a:solidFill>
                  <a:srgbClr val="1C1C1A"/>
                </a:solidFill>
                <a:latin typeface="Helvetica Neue"/>
              </a:rPr>
              <a:t>5.  Point at the cap rate for a rental.</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“Her three rentals. What each is worth, what she still owes, and the equity she actually has — plus the yield, so she can see which property is genuinely earning.”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26   ·   ★ CORE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Per-Property Expense Tracker</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Dated, categorized expenses per property — the shoebox, digitized.</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From Properties, open a property → Expenses drawer.</a:t>
            </a:r>
          </a:p>
          <a:p>
            <a:pPr algn="l">
              <a:lnSpc>
                <a:spcPct val="122000"/>
              </a:lnSpc>
              <a:spcBef>
                <a:spcPts val="700"/>
              </a:spcBef>
            </a:pPr>
            <a:r>
              <a:rPr sz="1400" b="0">
                <a:solidFill>
                  <a:srgbClr val="1C1C1A"/>
                </a:solidFill>
                <a:latin typeface="Helvetica Neue"/>
              </a:rPr>
              <a:t>2.  Add an expense — date, category, amount.</a:t>
            </a:r>
          </a:p>
          <a:p>
            <a:pPr algn="l">
              <a:lnSpc>
                <a:spcPct val="122000"/>
              </a:lnSpc>
              <a:spcBef>
                <a:spcPts val="700"/>
              </a:spcBef>
            </a:pPr>
            <a:r>
              <a:rPr sz="1400" b="0">
                <a:solidFill>
                  <a:srgbClr val="1C1C1A"/>
                </a:solidFill>
                <a:latin typeface="Helvetica Neue"/>
              </a:rPr>
              <a:t>3.  Show the category breakdown for the year.</a:t>
            </a:r>
          </a:p>
          <a:p>
            <a:pPr algn="l">
              <a:lnSpc>
                <a:spcPct val="122000"/>
              </a:lnSpc>
              <a:spcBef>
                <a:spcPts val="700"/>
              </a:spcBef>
            </a:pPr>
            <a:r>
              <a:rPr sz="1400" b="0">
                <a:solidFill>
                  <a:srgbClr val="1C1C1A"/>
                </a:solidFill>
                <a:latin typeface="Helvetica Neue"/>
              </a:rPr>
              <a:t>4.  Export the property's expenses.</a:t>
            </a:r>
          </a:p>
          <a:p>
            <a:pPr algn="l">
              <a:lnSpc>
                <a:spcPct val="122000"/>
              </a:lnSpc>
              <a:spcBef>
                <a:spcPts val="700"/>
              </a:spcBef>
            </a:pPr>
            <a:r>
              <a:rPr sz="1400" b="0">
                <a:solidFill>
                  <a:srgbClr val="1C1C1A"/>
                </a:solidFill>
                <a:latin typeface="Helvetica Neue"/>
              </a:rPr>
              <a:t>5.  Show the portfolio-wide combined tax export.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“Every repair, insurance bill, property tax payment, and management fee — dated and categorized, all year long. This is the part that usually lives in a shoebox.”</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27</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Deal Room</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A marketplace of sponsor real-estate deals, with track records.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Deal Room.</a:t>
            </a:r>
          </a:p>
          <a:p>
            <a:pPr algn="l">
              <a:lnSpc>
                <a:spcPct val="122000"/>
              </a:lnSpc>
              <a:spcBef>
                <a:spcPts val="700"/>
              </a:spcBef>
            </a:pPr>
            <a:r>
              <a:rPr sz="1400" b="0">
                <a:solidFill>
                  <a:srgbClr val="1C1C1A"/>
                </a:solidFill>
                <a:latin typeface="Helvetica Neue"/>
              </a:rPr>
              <a:t>2.  Browse the deal list.</a:t>
            </a:r>
          </a:p>
          <a:p>
            <a:pPr algn="l">
              <a:lnSpc>
                <a:spcPct val="122000"/>
              </a:lnSpc>
              <a:spcBef>
                <a:spcPts val="700"/>
              </a:spcBef>
            </a:pPr>
            <a:r>
              <a:rPr sz="1400" b="0">
                <a:solidFill>
                  <a:srgbClr val="1C1C1A"/>
                </a:solidFill>
                <a:latin typeface="Helvetica Neue"/>
              </a:rPr>
              <a:t>3.  Open a deal — terms, documents, sponsor detail.</a:t>
            </a:r>
          </a:p>
          <a:p>
            <a:pPr algn="l">
              <a:lnSpc>
                <a:spcPct val="122000"/>
              </a:lnSpc>
              <a:spcBef>
                <a:spcPts val="700"/>
              </a:spcBef>
            </a:pPr>
            <a:r>
              <a:rPr sz="1400" b="0">
                <a:solidFill>
                  <a:srgbClr val="1C1C1A"/>
                </a:solidFill>
                <a:latin typeface="Helvetica Neue"/>
              </a:rPr>
              <a:t>4.  Show the sponsor track record.</a:t>
            </a:r>
          </a:p>
          <a:p>
            <a:pPr algn="l">
              <a:lnSpc>
                <a:spcPct val="122000"/>
              </a:lnSpc>
              <a:spcBef>
                <a:spcPts val="700"/>
              </a:spcBef>
            </a:pPr>
            <a:r>
              <a:rPr sz="1400" b="0">
                <a:solidFill>
                  <a:srgbClr val="1C1C1A"/>
                </a:solidFill>
                <a:latin typeface="Helvetica Neue"/>
              </a:rPr>
              <a:t>5.  Watch a deal, then express interest.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“When she wants to put money to work — deals from sponsors, with the sponsor's track record visible before she trusts them.”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28</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Fractional LLC</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Co-investment marketplace — buy into a property alongside other investors.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Fractional LLC.</a:t>
            </a:r>
          </a:p>
          <a:p>
            <a:pPr algn="l">
              <a:lnSpc>
                <a:spcPct val="122000"/>
              </a:lnSpc>
              <a:spcBef>
                <a:spcPts val="700"/>
              </a:spcBef>
            </a:pPr>
            <a:r>
              <a:rPr sz="1400" b="0">
                <a:solidFill>
                  <a:srgbClr val="1C1C1A"/>
                </a:solidFill>
                <a:latin typeface="Helvetica Neue"/>
              </a:rPr>
              <a:t>2.  Show available co-investment opportunities.</a:t>
            </a:r>
          </a:p>
          <a:p>
            <a:pPr algn="l">
              <a:lnSpc>
                <a:spcPct val="122000"/>
              </a:lnSpc>
              <a:spcBef>
                <a:spcPts val="700"/>
              </a:spcBef>
            </a:pPr>
            <a:r>
              <a:rPr sz="1400" b="0">
                <a:solidFill>
                  <a:srgbClr val="1C1C1A"/>
                </a:solidFill>
                <a:latin typeface="Helvetica Neue"/>
              </a:rPr>
              <a:t>3.  Open one; show the ownership structure.</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“And she can co-invest in a property alongside other investors, instead of having to buy one outright.”</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[MISSING: demo steps for the participation / commit flow]</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D</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Tax &amp; Documents</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Sidebar: Taxes, Documents   ·   Features 29–35   ·   ~6 minutes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29   ·   ★★ CORE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Tax Estimator</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A live, year-round tax picture: filing status, W-2 income, self-employment income, investment income, and rentals.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Taxes.</a:t>
            </a:r>
          </a:p>
          <a:p>
            <a:pPr algn="l">
              <a:lnSpc>
                <a:spcPct val="122000"/>
              </a:lnSpc>
              <a:spcBef>
                <a:spcPts val="700"/>
              </a:spcBef>
            </a:pPr>
            <a:r>
              <a:rPr sz="1400" b="0">
                <a:solidFill>
                  <a:srgbClr val="1C1C1A"/>
                </a:solidFill>
                <a:latin typeface="Helvetica Neue"/>
              </a:rPr>
              <a:t>2.  Set filing status — choose Married filing jointly.</a:t>
            </a:r>
          </a:p>
          <a:p>
            <a:pPr algn="l">
              <a:lnSpc>
                <a:spcPct val="122000"/>
              </a:lnSpc>
              <a:spcBef>
                <a:spcPts val="700"/>
              </a:spcBef>
            </a:pPr>
            <a:r>
              <a:rPr sz="1400" b="0">
                <a:solidFill>
                  <a:srgbClr val="1C1C1A"/>
                </a:solidFill>
                <a:latin typeface="Helvetica Neue"/>
              </a:rPr>
              <a:t>3.  Add the spouse's W-2.</a:t>
            </a:r>
          </a:p>
          <a:p>
            <a:pPr algn="l">
              <a:lnSpc>
                <a:spcPct val="122000"/>
              </a:lnSpc>
              <a:spcBef>
                <a:spcPts val="700"/>
              </a:spcBef>
            </a:pPr>
            <a:r>
              <a:rPr sz="1400" b="0">
                <a:solidFill>
                  <a:srgbClr val="1C1C1A"/>
                </a:solidFill>
                <a:latin typeface="Helvetica Neue"/>
              </a:rPr>
              <a:t>4.  Enter self-employment / 1099 income.</a:t>
            </a:r>
          </a:p>
          <a:p>
            <a:pPr algn="l">
              <a:lnSpc>
                <a:spcPct val="122000"/>
              </a:lnSpc>
              <a:spcBef>
                <a:spcPts val="700"/>
              </a:spcBef>
            </a:pPr>
            <a:r>
              <a:rPr sz="1400" b="0">
                <a:solidFill>
                  <a:srgbClr val="1C1C1A"/>
                </a:solidFill>
                <a:latin typeface="Helvetica Neue"/>
              </a:rPr>
              <a:t>5.  Show interest, dividends, capital gains, retirement income.</a:t>
            </a:r>
          </a:p>
          <a:p>
            <a:pPr algn="l">
              <a:lnSpc>
                <a:spcPct val="122000"/>
              </a:lnSpc>
              <a:spcBef>
                <a:spcPts val="700"/>
              </a:spcBef>
            </a:pPr>
            <a:r>
              <a:rPr sz="1400" b="0">
                <a:solidFill>
                  <a:srgbClr val="1C1C1A"/>
                </a:solidFill>
                <a:latin typeface="Helvetica Neue"/>
              </a:rPr>
              <a:t>6.  Show the running estimate updating as you type.</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“This is her tax picture — live all year, not just in April. Her filing status, her husband's W-2, her 1099 income from the business.”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30   ·   ★★ CORE — MOST DIFFERENTIATED</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Rental Tax Modelling</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The rental section no consumer app has: depreciation and suspended loss carryforward.</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On Taxes, open the rental section.</a:t>
            </a:r>
          </a:p>
          <a:p>
            <a:pPr algn="l">
              <a:lnSpc>
                <a:spcPct val="122000"/>
              </a:lnSpc>
              <a:spcBef>
                <a:spcPts val="700"/>
              </a:spcBef>
            </a:pPr>
            <a:r>
              <a:rPr sz="1400" b="0">
                <a:solidFill>
                  <a:srgbClr val="1C1C1A"/>
                </a:solidFill>
                <a:latin typeface="Helvetica Neue"/>
              </a:rPr>
              <a:t>2.  Enter gross rents collected.</a:t>
            </a:r>
          </a:p>
          <a:p>
            <a:pPr algn="l">
              <a:lnSpc>
                <a:spcPct val="122000"/>
              </a:lnSpc>
              <a:spcBef>
                <a:spcPts val="700"/>
              </a:spcBef>
            </a:pPr>
            <a:r>
              <a:rPr sz="1400" b="0">
                <a:solidFill>
                  <a:srgbClr val="1C1C1A"/>
                </a:solidFill>
                <a:latin typeface="Helvetica Neue"/>
              </a:rPr>
              <a:t>3.  Enter mortgage interest, property tax, insurance, repairs, management.</a:t>
            </a:r>
          </a:p>
          <a:p>
            <a:pPr algn="l">
              <a:lnSpc>
                <a:spcPct val="122000"/>
              </a:lnSpc>
              <a:spcBef>
                <a:spcPts val="700"/>
              </a:spcBef>
            </a:pPr>
            <a:r>
              <a:rPr sz="1400" b="0">
                <a:solidFill>
                  <a:srgbClr val="1C1C1A"/>
                </a:solidFill>
                <a:latin typeface="Helvetica Neue"/>
              </a:rPr>
              <a:t>4.  Enter property cost basis and land value.</a:t>
            </a:r>
          </a:p>
          <a:p>
            <a:pPr algn="l">
              <a:lnSpc>
                <a:spcPct val="122000"/>
              </a:lnSpc>
              <a:spcBef>
                <a:spcPts val="700"/>
              </a:spcBef>
            </a:pPr>
            <a:r>
              <a:rPr sz="1400" b="0">
                <a:solidFill>
                  <a:srgbClr val="1C1C1A"/>
                </a:solidFill>
                <a:latin typeface="Helvetica Neue"/>
              </a:rPr>
              <a:t>5.  Enter prior-year suspended loss (carryforward).</a:t>
            </a:r>
          </a:p>
          <a:p>
            <a:pPr algn="l">
              <a:lnSpc>
                <a:spcPct val="122000"/>
              </a:lnSpc>
              <a:spcBef>
                <a:spcPts val="700"/>
              </a:spcBef>
            </a:pPr>
            <a:r>
              <a:rPr sz="1400" b="0">
                <a:solidFill>
                  <a:srgbClr val="1C1C1A"/>
                </a:solidFill>
                <a:latin typeface="Helvetica Neue"/>
              </a:rPr>
              <a:t>6.  Show the resulting deduction change in the estimate.</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“Cost basis and land value — that's depreciation. Every rental owner can deduct part of the building's value every single year. And prior-year suspended loss — when a rental loses money, that loss doesn't disappear. It carries forward. Most people forget it exists and never claim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31   ·   ★ CORE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Tax Guidance Engine</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Rule-based prompts for the deductions and credits this customer qualifies for.</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On Taxes, scroll to the guidance panel.</a:t>
            </a:r>
          </a:p>
          <a:p>
            <a:pPr algn="l">
              <a:lnSpc>
                <a:spcPct val="122000"/>
              </a:lnSpc>
              <a:spcBef>
                <a:spcPts val="700"/>
              </a:spcBef>
            </a:pPr>
            <a:r>
              <a:rPr sz="1400" b="0">
                <a:solidFill>
                  <a:srgbClr val="1C1C1A"/>
                </a:solidFill>
                <a:latin typeface="Helvetica Neue"/>
              </a:rPr>
              <a:t>2.  Show Deductions — rental depreciation, suspended losses, 20% QBI, tax-advantaged accounts.</a:t>
            </a:r>
          </a:p>
          <a:p>
            <a:pPr algn="l">
              <a:lnSpc>
                <a:spcPct val="122000"/>
              </a:lnSpc>
              <a:spcBef>
                <a:spcPts val="700"/>
              </a:spcBef>
            </a:pPr>
            <a:r>
              <a:rPr sz="1400" b="0">
                <a:solidFill>
                  <a:srgbClr val="1C1C1A"/>
                </a:solidFill>
                <a:latin typeface="Helvetica Neue"/>
              </a:rPr>
              <a:t>3.  Show Credits — child &amp; dependent care, home energy and EV.</a:t>
            </a:r>
          </a:p>
          <a:p>
            <a:pPr algn="l">
              <a:lnSpc>
                <a:spcPct val="122000"/>
              </a:lnSpc>
              <a:spcBef>
                <a:spcPts val="700"/>
              </a:spcBef>
            </a:pPr>
            <a:r>
              <a:rPr sz="1400" b="0">
                <a:solidFill>
                  <a:srgbClr val="1C1C1A"/>
                </a:solidFill>
                <a:latin typeface="Helvetica Neue"/>
              </a:rPr>
              <a:t>4.  Show the quarterly estimated payments prompt.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“It tells her what she's missing. The 20% QBI deduction on her business income. Her quarterly estimates. Energy credits. A normal budgeting app has no idea any of these exist — and these are exactly the deductions this customer has.”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32</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Document Upload &amp; OCR</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Upload tax documents; the app extracts values from PDFs and photos.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On Taxes, use the document upload.</a:t>
            </a:r>
          </a:p>
          <a:p>
            <a:pPr algn="l">
              <a:lnSpc>
                <a:spcPct val="122000"/>
              </a:lnSpc>
              <a:spcBef>
                <a:spcPts val="700"/>
              </a:spcBef>
            </a:pPr>
            <a:r>
              <a:rPr sz="1400" b="0">
                <a:solidFill>
                  <a:srgbClr val="1C1C1A"/>
                </a:solidFill>
                <a:latin typeface="Helvetica Neue"/>
              </a:rPr>
              <a:t>2.  Upload a W-2 (PDF or photo).</a:t>
            </a:r>
          </a:p>
          <a:p>
            <a:pPr algn="l">
              <a:lnSpc>
                <a:spcPct val="122000"/>
              </a:lnSpc>
              <a:spcBef>
                <a:spcPts val="700"/>
              </a:spcBef>
            </a:pPr>
            <a:r>
              <a:rPr sz="1400" b="0">
                <a:solidFill>
                  <a:srgbClr val="1C1C1A"/>
                </a:solidFill>
                <a:latin typeface="Helvetica Neue"/>
              </a:rPr>
              <a:t>3.  Show extracted values populating the form.</a:t>
            </a:r>
          </a:p>
          <a:p>
            <a:pPr algn="l">
              <a:lnSpc>
                <a:spcPct val="122000"/>
              </a:lnSpc>
              <a:spcBef>
                <a:spcPts val="700"/>
              </a:spcBef>
            </a:pPr>
            <a:r>
              <a:rPr sz="1400" b="0">
                <a:solidFill>
                  <a:srgbClr val="1C1C1A"/>
                </a:solidFill>
                <a:latin typeface="Helvetica Neue"/>
              </a:rPr>
              <a:t>4.  Show remove / replace on an uploaded file.</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“She can photograph a W-2 instead of typing it in.”</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[MISSING: pre-test OCR on your demo file — do not attempt this live untested]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33   ·   ★ CORE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Document Center</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Personal document storage with folders and a cross-app registry pulling in documents generated elsewhere in the product.</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Documents.</a:t>
            </a:r>
          </a:p>
          <a:p>
            <a:pPr algn="l">
              <a:lnSpc>
                <a:spcPct val="122000"/>
              </a:lnSpc>
              <a:spcBef>
                <a:spcPts val="700"/>
              </a:spcBef>
            </a:pPr>
            <a:r>
              <a:rPr sz="1400" b="0">
                <a:solidFill>
                  <a:srgbClr val="1C1C1A"/>
                </a:solidFill>
                <a:latin typeface="Helvetica Neue"/>
              </a:rPr>
              <a:t>2.  Show the folder structure.</a:t>
            </a:r>
          </a:p>
          <a:p>
            <a:pPr algn="l">
              <a:lnSpc>
                <a:spcPct val="122000"/>
              </a:lnSpc>
              <a:spcBef>
                <a:spcPts val="700"/>
              </a:spcBef>
            </a:pPr>
            <a:r>
              <a:rPr sz="1400" b="0">
                <a:solidFill>
                  <a:srgbClr val="1C1C1A"/>
                </a:solidFill>
                <a:latin typeface="Helvetica Neue"/>
              </a:rPr>
              <a:t>3.  Upload a document to a folder.</a:t>
            </a:r>
          </a:p>
          <a:p>
            <a:pPr algn="l">
              <a:lnSpc>
                <a:spcPct val="122000"/>
              </a:lnSpc>
              <a:spcBef>
                <a:spcPts val="700"/>
              </a:spcBef>
            </a:pPr>
            <a:r>
              <a:rPr sz="1400" b="0">
                <a:solidFill>
                  <a:srgbClr val="1C1C1A"/>
                </a:solidFill>
                <a:latin typeface="Helvetica Neue"/>
              </a:rPr>
              <a:t>4.  Show the cross-app registry — Real Estate and Business exports appearing here.</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“Every financial document in one place — including the exports the app generates for her automatically.”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34   ·   ★ CORE — THE PAYOFF</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CPA Secure Sharing</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Share with an accountant via a view-only link with expiry, mandatory passcode, and a full access log.</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From Documents, select files → Share.</a:t>
            </a:r>
          </a:p>
          <a:p>
            <a:pPr algn="l">
              <a:lnSpc>
                <a:spcPct val="122000"/>
              </a:lnSpc>
              <a:spcBef>
                <a:spcPts val="700"/>
              </a:spcBef>
            </a:pPr>
            <a:r>
              <a:rPr sz="1400" b="0">
                <a:solidFill>
                  <a:srgbClr val="1C1C1A"/>
                </a:solidFill>
                <a:latin typeface="Helvetica Neue"/>
              </a:rPr>
              <a:t>2.  Build a multi-file share set.</a:t>
            </a:r>
          </a:p>
          <a:p>
            <a:pPr algn="l">
              <a:lnSpc>
                <a:spcPct val="122000"/>
              </a:lnSpc>
              <a:spcBef>
                <a:spcPts val="700"/>
              </a:spcBef>
            </a:pPr>
            <a:r>
              <a:rPr sz="1400" b="0">
                <a:solidFill>
                  <a:srgbClr val="1C1C1A"/>
                </a:solidFill>
                <a:latin typeface="Helvetica Neue"/>
              </a:rPr>
              <a:t>3.  Set an expiry date.</a:t>
            </a:r>
          </a:p>
          <a:p>
            <a:pPr algn="l">
              <a:lnSpc>
                <a:spcPct val="122000"/>
              </a:lnSpc>
              <a:spcBef>
                <a:spcPts val="700"/>
              </a:spcBef>
            </a:pPr>
            <a:r>
              <a:rPr sz="1400" b="0">
                <a:solidFill>
                  <a:srgbClr val="1C1C1A"/>
                </a:solidFill>
                <a:latin typeface="Helvetica Neue"/>
              </a:rPr>
              <a:t>4.  Set the passcode (mandatory).</a:t>
            </a:r>
          </a:p>
          <a:p>
            <a:pPr algn="l">
              <a:lnSpc>
                <a:spcPct val="122000"/>
              </a:lnSpc>
              <a:spcBef>
                <a:spcPts val="700"/>
              </a:spcBef>
            </a:pPr>
            <a:r>
              <a:rPr sz="1400" b="0">
                <a:solidFill>
                  <a:srgbClr val="1C1C1A"/>
                </a:solidFill>
                <a:latin typeface="Helvetica Neue"/>
              </a:rPr>
              <a:t>5.  Generate the link; open it in an incognito window as the accountant.</a:t>
            </a:r>
          </a:p>
          <a:p>
            <a:pPr algn="l">
              <a:lnSpc>
                <a:spcPct val="122000"/>
              </a:lnSpc>
              <a:spcBef>
                <a:spcPts val="700"/>
              </a:spcBef>
            </a:pPr>
            <a:r>
              <a:rPr sz="1400" b="0">
                <a:solidFill>
                  <a:srgbClr val="1C1C1A"/>
                </a:solidFill>
                <a:latin typeface="Helvetica Neue"/>
              </a:rPr>
              <a:t>6.  Enter the passcode; show the view-only experience.</a:t>
            </a:r>
          </a:p>
          <a:p>
            <a:pPr algn="l">
              <a:lnSpc>
                <a:spcPct val="122000"/>
              </a:lnSpc>
              <a:spcBef>
                <a:spcPts val="700"/>
              </a:spcBef>
            </a:pPr>
            <a:r>
              <a:rPr sz="1400" b="0">
                <a:solidFill>
                  <a:srgbClr val="1C1C1A"/>
                </a:solidFill>
                <a:latin typeface="Helvetica Neue"/>
              </a:rPr>
              <a:t>7.  Return and show the access log — who opened it, when.</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“Remember Maria's weekend of collecting paperwork? This is that — one link. View-only. It expires. It needs a passcode. And she can see exactly when her accountant opened it. Her whole tax year, sent safely, in about ten seconds.”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35</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CPA Marketplace</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Find and connect with an accountant.</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Navigate to /cpa (route-only — not in the sidebar).</a:t>
            </a:r>
          </a:p>
          <a:p>
            <a:pPr algn="l">
              <a:lnSpc>
                <a:spcPct val="122000"/>
              </a:lnSpc>
              <a:spcBef>
                <a:spcPts val="700"/>
              </a:spcBef>
            </a:pPr>
            <a:r>
              <a:rPr sz="1400" b="0">
                <a:solidFill>
                  <a:srgbClr val="1C1C1A"/>
                </a:solidFill>
                <a:latin typeface="Helvetica Neue"/>
              </a:rPr>
              <a:t>2.  Browse available CPAs.</a:t>
            </a:r>
          </a:p>
          <a:p>
            <a:pPr algn="l">
              <a:lnSpc>
                <a:spcPct val="122000"/>
              </a:lnSpc>
              <a:spcBef>
                <a:spcPts val="700"/>
              </a:spcBef>
            </a:pPr>
            <a:r>
              <a:rPr sz="1400" b="0">
                <a:solidFill>
                  <a:srgbClr val="1C1C1A"/>
                </a:solidFill>
                <a:latin typeface="Helvetica Neue"/>
              </a:rPr>
              <a:t>3.  Open a profile; show the connect flow.</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“And if she doesn't have an accountant, she can find one here.”</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[MISSING: confirm the in-app entry point so you're not typing a URL live]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E</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Intelligence &amp; Trust</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Features 36–40   ·   ~2 minutes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36</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AI Assistant</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A financial assistant grounded in the user's actual accounts, business and properties — with scope control, response styles, a prompt library, and voice input.</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AI Assistant.</a:t>
            </a:r>
          </a:p>
          <a:p>
            <a:pPr algn="l">
              <a:lnSpc>
                <a:spcPct val="122000"/>
              </a:lnSpc>
              <a:spcBef>
                <a:spcPts val="700"/>
              </a:spcBef>
            </a:pPr>
            <a:r>
              <a:rPr sz="1400" b="0">
                <a:solidFill>
                  <a:srgbClr val="1C1C1A"/>
                </a:solidFill>
                <a:latin typeface="Helvetica Neue"/>
              </a:rPr>
              <a:t>2.  Show the insight cards on arrival.</a:t>
            </a:r>
          </a:p>
          <a:p>
            <a:pPr algn="l">
              <a:lnSpc>
                <a:spcPct val="122000"/>
              </a:lnSpc>
              <a:spcBef>
                <a:spcPts val="700"/>
              </a:spcBef>
            </a:pPr>
            <a:r>
              <a:rPr sz="1400" b="0">
                <a:solidFill>
                  <a:srgbClr val="1C1C1A"/>
                </a:solidFill>
                <a:latin typeface="Helvetica Neue"/>
              </a:rPr>
              <a:t>3.  Ask ONE pre-tested question.</a:t>
            </a:r>
          </a:p>
          <a:p>
            <a:pPr algn="l">
              <a:lnSpc>
                <a:spcPct val="122000"/>
              </a:lnSpc>
              <a:spcBef>
                <a:spcPts val="700"/>
              </a:spcBef>
            </a:pPr>
            <a:r>
              <a:rPr sz="1400" b="0">
                <a:solidFill>
                  <a:srgbClr val="1C1C1A"/>
                </a:solidFill>
                <a:latin typeface="Helvetica Neue"/>
              </a:rPr>
              <a:t>4.  Show the scope selector — what it's allowed to see.</a:t>
            </a:r>
          </a:p>
          <a:p>
            <a:pPr algn="l">
              <a:lnSpc>
                <a:spcPct val="122000"/>
              </a:lnSpc>
              <a:spcBef>
                <a:spcPts val="700"/>
              </a:spcBef>
            </a:pPr>
            <a:r>
              <a:rPr sz="1400" b="0">
                <a:solidFill>
                  <a:srgbClr val="1C1C1A"/>
                </a:solidFill>
                <a:latin typeface="Helvetica Neue"/>
              </a:rPr>
              <a:t>5.  Show response styles and the prompt library.</a:t>
            </a:r>
          </a:p>
          <a:p>
            <a:pPr algn="l">
              <a:lnSpc>
                <a:spcPct val="122000"/>
              </a:lnSpc>
              <a:spcBef>
                <a:spcPts val="700"/>
              </a:spcBef>
            </a:pPr>
            <a:r>
              <a:rPr sz="1400" b="0">
                <a:solidFill>
                  <a:srgbClr val="1C1C1A"/>
                </a:solidFill>
                <a:latin typeface="Helvetica Neue"/>
              </a:rPr>
              <a:t>6.  Point at the disclaimer.</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“An assistant that can actually see her numbers — not generic advice from the internet. She controls what it's allowed to look at.”</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  Test your exact question before the call. Never ask an AI live what you haven't seen answer well.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37</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Notifications &amp; Messages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In-app inbox plus email / SMS / push alerts with per-user preference control.</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Click the notifications bell in the topbar.</a:t>
            </a:r>
          </a:p>
          <a:p>
            <a:pPr algn="l">
              <a:lnSpc>
                <a:spcPct val="122000"/>
              </a:lnSpc>
              <a:spcBef>
                <a:spcPts val="700"/>
              </a:spcBef>
            </a:pPr>
            <a:r>
              <a:rPr sz="1400" b="0">
                <a:solidFill>
                  <a:srgbClr val="1C1C1A"/>
                </a:solidFill>
                <a:latin typeface="Helvetica Neue"/>
              </a:rPr>
              <a:t>2.  Click View all messages → Messages page.</a:t>
            </a:r>
          </a:p>
          <a:p>
            <a:pPr algn="l">
              <a:lnSpc>
                <a:spcPct val="122000"/>
              </a:lnSpc>
              <a:spcBef>
                <a:spcPts val="700"/>
              </a:spcBef>
            </a:pPr>
            <a:r>
              <a:rPr sz="1400" b="0">
                <a:solidFill>
                  <a:srgbClr val="1C1C1A"/>
                </a:solidFill>
                <a:latin typeface="Helvetica Neue"/>
              </a:rPr>
              <a:t>3.  Settings → Notifications; toggle a preference.</a:t>
            </a:r>
          </a:p>
          <a:p>
            <a:pPr algn="l">
              <a:lnSpc>
                <a:spcPct val="122000"/>
              </a:lnSpc>
              <a:spcBef>
                <a:spcPts val="700"/>
              </a:spcBef>
            </a:pPr>
            <a:r>
              <a:rPr sz="1400" b="0">
                <a:solidFill>
                  <a:srgbClr val="1C1C1A"/>
                </a:solidFill>
                <a:latin typeface="Helvetica Neue"/>
              </a:rPr>
              <a:t>4.  Send a test notification.</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“Alerts in one inbox, and she controls exactly which ones reach her and how.”</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38</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Security Center</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Two-factor authentication, active session management, and a readable login history with device and location.</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Security.</a:t>
            </a:r>
          </a:p>
          <a:p>
            <a:pPr algn="l">
              <a:lnSpc>
                <a:spcPct val="122000"/>
              </a:lnSpc>
              <a:spcBef>
                <a:spcPts val="700"/>
              </a:spcBef>
            </a:pPr>
            <a:r>
              <a:rPr sz="1400" b="0">
                <a:solidFill>
                  <a:srgbClr val="1C1C1A"/>
                </a:solidFill>
                <a:latin typeface="Helvetica Neue"/>
              </a:rPr>
              <a:t>2.  Show two-factor authentication settings.</a:t>
            </a:r>
          </a:p>
          <a:p>
            <a:pPr algn="l">
              <a:lnSpc>
                <a:spcPct val="122000"/>
              </a:lnSpc>
              <a:spcBef>
                <a:spcPts val="700"/>
              </a:spcBef>
            </a:pPr>
            <a:r>
              <a:rPr sz="1400" b="0">
                <a:solidFill>
                  <a:srgbClr val="1C1C1A"/>
                </a:solidFill>
                <a:latin typeface="Helvetica Neue"/>
              </a:rPr>
              <a:t>3.  Show active sessions.</a:t>
            </a:r>
          </a:p>
          <a:p>
            <a:pPr algn="l">
              <a:lnSpc>
                <a:spcPct val="122000"/>
              </a:lnSpc>
              <a:spcBef>
                <a:spcPts val="700"/>
              </a:spcBef>
            </a:pPr>
            <a:r>
              <a:rPr sz="1400" b="0">
                <a:solidFill>
                  <a:srgbClr val="1C1C1A"/>
                </a:solidFill>
                <a:latin typeface="Helvetica Neue"/>
              </a:rPr>
              <a:t>4.  Show login history — friendly labels, device, time, location.</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“Two-factor, every active session, and a full login history — device, time, and where it came from. If something looks wrong, she sees it.”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39</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Audit Trail</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A tamper-evident hash chain of every state change, with an endpoint that proves the log wasn't altered.</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Show the user-facing activity timeline.</a:t>
            </a:r>
          </a:p>
          <a:p>
            <a:pPr algn="l">
              <a:lnSpc>
                <a:spcPct val="122000"/>
              </a:lnSpc>
              <a:spcBef>
                <a:spcPts val="700"/>
              </a:spcBef>
            </a:pPr>
            <a:r>
              <a:rPr sz="1400" b="0">
                <a:solidFill>
                  <a:srgbClr val="1C1C1A"/>
                </a:solidFill>
                <a:latin typeface="Helvetica Neue"/>
              </a:rPr>
              <a:t>2.  For technical audiences: open /api/v1/audit/verify and show the chain verifying.</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“Every change to an account is written into a cryptographic chain. This endpoint re-walks that chain and proves nothing was altered or deleted. Most fintechs retrofit this after their first audit. We built it before we had users.”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40</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Data Export &amp; Account Deletion</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Full data export and self-service account deletion.</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Settings → Data &amp; Privacy.</a:t>
            </a:r>
          </a:p>
          <a:p>
            <a:pPr algn="l">
              <a:lnSpc>
                <a:spcPct val="122000"/>
              </a:lnSpc>
              <a:spcBef>
                <a:spcPts val="700"/>
              </a:spcBef>
            </a:pPr>
            <a:r>
              <a:rPr sz="1400" b="0">
                <a:solidFill>
                  <a:srgbClr val="1C1C1A"/>
                </a:solidFill>
                <a:latin typeface="Helvetica Neue"/>
              </a:rPr>
              <a:t>2.  Trigger a data export.</a:t>
            </a:r>
          </a:p>
          <a:p>
            <a:pPr algn="l">
              <a:lnSpc>
                <a:spcPct val="122000"/>
              </a:lnSpc>
              <a:spcBef>
                <a:spcPts val="700"/>
              </a:spcBef>
            </a:pPr>
            <a:r>
              <a:rPr sz="1400" b="0">
                <a:solidFill>
                  <a:srgbClr val="1C1C1A"/>
                </a:solidFill>
                <a:latin typeface="Helvetica Neue"/>
              </a:rPr>
              <a:t>3.  Show the delete account option — describe it, don't click it.</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“She can export everything or delete her account outright. Her data is hers. We say that, and then we make it a button.”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F</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Platform &amp; Business Model</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Features 41–46   ·   ~2 minutes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41</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Profile &amp; Identity</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Personal details and identity information, with SSN/EIN encrypted and shown only as last four digits.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footer → Profile.</a:t>
            </a:r>
          </a:p>
          <a:p>
            <a:pPr algn="l">
              <a:lnSpc>
                <a:spcPct val="122000"/>
              </a:lnSpc>
              <a:spcBef>
                <a:spcPts val="700"/>
              </a:spcBef>
            </a:pPr>
            <a:r>
              <a:rPr sz="1400" b="0">
                <a:solidFill>
                  <a:srgbClr val="1C1C1A"/>
                </a:solidFill>
                <a:latin typeface="Helvetica Neue"/>
              </a:rPr>
              <a:t>2.  Show name and contact details.</a:t>
            </a:r>
          </a:p>
          <a:p>
            <a:pPr algn="l">
              <a:lnSpc>
                <a:spcPct val="122000"/>
              </a:lnSpc>
              <a:spcBef>
                <a:spcPts val="700"/>
              </a:spcBef>
            </a:pPr>
            <a:r>
              <a:rPr sz="1400" b="0">
                <a:solidFill>
                  <a:srgbClr val="1C1C1A"/>
                </a:solidFill>
                <a:latin typeface="Helvetica Neue"/>
              </a:rPr>
              <a:t>3.  Show the masked SSN / EIN — last four only.</a:t>
            </a:r>
          </a:p>
          <a:p>
            <a:pPr algn="l">
              <a:lnSpc>
                <a:spcPct val="122000"/>
              </a:lnSpc>
              <a:spcBef>
                <a:spcPts val="700"/>
              </a:spcBef>
            </a:pPr>
            <a:r>
              <a:rPr sz="1400" b="0">
                <a:solidFill>
                  <a:srgbClr val="1C1C1A"/>
                </a:solidFill>
                <a:latin typeface="Helvetica Neue"/>
              </a:rPr>
              <a:t>4.  Show notification preference toggles.</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“Her identity details are encrypted and only ever displayed as the last four digits — even to her.”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42</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Settings, Themes &amp; Languages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Appearance, regional settings, and full internationalization.</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Settings.</a:t>
            </a:r>
          </a:p>
          <a:p>
            <a:pPr algn="l">
              <a:lnSpc>
                <a:spcPct val="122000"/>
              </a:lnSpc>
              <a:spcBef>
                <a:spcPts val="700"/>
              </a:spcBef>
            </a:pPr>
            <a:r>
              <a:rPr sz="1400" b="0">
                <a:solidFill>
                  <a:srgbClr val="1C1C1A"/>
                </a:solidFill>
                <a:latin typeface="Helvetica Neue"/>
              </a:rPr>
              <a:t>2.  Cycle the theme from the topbar — Light / Dark / Glass.</a:t>
            </a:r>
          </a:p>
          <a:p>
            <a:pPr algn="l">
              <a:lnSpc>
                <a:spcPct val="122000"/>
              </a:lnSpc>
              <a:spcBef>
                <a:spcPts val="700"/>
              </a:spcBef>
            </a:pPr>
            <a:r>
              <a:rPr sz="1400" b="0">
                <a:solidFill>
                  <a:srgbClr val="1C1C1A"/>
                </a:solidFill>
                <a:latin typeface="Helvetica Neue"/>
              </a:rPr>
              <a:t>3.  Change the language; show a right-to-left language such as Arabic.</a:t>
            </a:r>
          </a:p>
          <a:p>
            <a:pPr algn="l">
              <a:lnSpc>
                <a:spcPct val="122000"/>
              </a:lnSpc>
              <a:spcBef>
                <a:spcPts val="700"/>
              </a:spcBef>
            </a:pPr>
            <a:r>
              <a:rPr sz="1400" b="0">
                <a:solidFill>
                  <a:srgbClr val="1C1C1A"/>
                </a:solidFill>
                <a:latin typeface="Helvetica Neue"/>
              </a:rPr>
              <a:t>4.  Show regional settings.</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“Light, dark, and glass. Nine languages, including right-to-left for Arabic — because this customer base isn't only English-speaking.”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43   ·   INVESTOR CLOSE</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Subscription &amp; Plans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Two-tier subscription with a 7-day trial and live feature gating — built, running, and repriceable without a deploy.</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Sidebar → Subscription.</a:t>
            </a:r>
          </a:p>
          <a:p>
            <a:pPr algn="l">
              <a:lnSpc>
                <a:spcPct val="122000"/>
              </a:lnSpc>
              <a:spcBef>
                <a:spcPts val="700"/>
              </a:spcBef>
            </a:pPr>
            <a:r>
              <a:rPr sz="1400" b="0">
                <a:solidFill>
                  <a:srgbClr val="1C1C1A"/>
                </a:solidFill>
                <a:latin typeface="Helvetica Neue"/>
              </a:rPr>
              <a:t>2.  Show Individual $9.99/mo and Business $29.99/mo.</a:t>
            </a:r>
          </a:p>
          <a:p>
            <a:pPr algn="l">
              <a:lnSpc>
                <a:spcPct val="122000"/>
              </a:lnSpc>
              <a:spcBef>
                <a:spcPts val="700"/>
              </a:spcBef>
            </a:pPr>
            <a:r>
              <a:rPr sz="1400" b="0">
                <a:solidFill>
                  <a:srgbClr val="1C1C1A"/>
                </a:solidFill>
                <a:latin typeface="Helvetica Neue"/>
              </a:rPr>
              <a:t>3.  Show the 7-day trial and annual pricing (~2 months free).</a:t>
            </a:r>
          </a:p>
          <a:p>
            <a:pPr algn="l">
              <a:lnSpc>
                <a:spcPct val="122000"/>
              </a:lnSpc>
              <a:spcBef>
                <a:spcPts val="700"/>
              </a:spcBef>
            </a:pPr>
            <a:r>
              <a:rPr sz="1400" b="0">
                <a:solidFill>
                  <a:srgbClr val="1C1C1A"/>
                </a:solidFill>
                <a:latin typeface="Helvetica Neue"/>
              </a:rPr>
              <a:t>4.  Show the per-plan feature list.</a:t>
            </a:r>
          </a:p>
          <a:p>
            <a:pPr algn="l">
              <a:lnSpc>
                <a:spcPct val="122000"/>
              </a:lnSpc>
              <a:spcBef>
                <a:spcPts val="700"/>
              </a:spcBef>
            </a:pPr>
            <a:r>
              <a:rPr sz="1400" b="0">
                <a:solidFill>
                  <a:srgbClr val="1C1C1A"/>
                </a:solidFill>
                <a:latin typeface="Helvetica Neue"/>
              </a:rPr>
              <a:t>5.  Mention the trial-ending banner and onboarding modal.</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“The plans, the trial, the billing lifecycle, and the feature locks are all built and running. And pricing lives in the database, not the code — we can reprice or repackage without a deploy.”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44</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Learn &amp; Guide</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In-app educational modules.</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Topbar help icon → Learn.</a:t>
            </a:r>
          </a:p>
          <a:p>
            <a:pPr algn="l">
              <a:lnSpc>
                <a:spcPct val="122000"/>
              </a:lnSpc>
              <a:spcBef>
                <a:spcPts val="700"/>
              </a:spcBef>
            </a:pPr>
            <a:r>
              <a:rPr sz="1400" b="0">
                <a:solidFill>
                  <a:srgbClr val="1C1C1A"/>
                </a:solidFill>
                <a:latin typeface="Helvetica Neue"/>
              </a:rPr>
              <a:t>2.  Show the educational modules.</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“Built-in education, because half of this customer's problem is that nobody ever explained depreciation to them.”</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[MISSING: which Learn modules have finished content worth showing?]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45</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Mobile Apps</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The same product on iPhone and Android from one codebase, installable as a PWA.</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Show the app on a phone if one is to hand.</a:t>
            </a:r>
          </a:p>
          <a:p>
            <a:pPr algn="l">
              <a:lnSpc>
                <a:spcPct val="122000"/>
              </a:lnSpc>
              <a:spcBef>
                <a:spcPts val="700"/>
              </a:spcBef>
            </a:pPr>
            <a:r>
              <a:rPr sz="1400" b="0">
                <a:solidFill>
                  <a:srgbClr val="1C1C1A"/>
                </a:solidFill>
                <a:latin typeface="Helvetica Neue"/>
              </a:rPr>
              <a:t>2.  Otherwise show the install-to-home-screen prompt in the browser.</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“Same product on iPhone and Android, from one codebase. She can install it from the browser.”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73152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FEATURE 46   ·   INTERNAL — INVESTORS ONLY</a:t>
            </a:r>
          </a:p>
        </p:txBody>
      </p:sp>
      <p:sp>
        <p:nvSpPr>
          <p:cNvPr id="5" name="TextBox 4"/>
          <p:cNvSpPr txBox="1"/>
          <p:nvPr/>
        </p:nvSpPr>
        <p:spPr>
          <a:xfrm>
            <a:off x="822960" y="841248"/>
            <a:ext cx="7680960" cy="777240"/>
          </a:xfrm>
          <a:prstGeom prst="rect">
            <a:avLst/>
          </a:prstGeom>
          <a:noFill/>
        </p:spPr>
        <p:txBody>
          <a:bodyPr wrap="square" anchor="t" lIns="0" rIns="0" tIns="0" bIns="0">
            <a:spAutoFit/>
          </a:bodyPr>
          <a:lstStyle/>
          <a:p>
            <a:pPr algn="l">
              <a:lnSpc>
                <a:spcPct val="108000"/>
              </a:lnSpc>
            </a:pPr>
            <a:r>
              <a:rPr sz="3100" b="1">
                <a:solidFill>
                  <a:srgbClr val="1A4D3B"/>
                </a:solidFill>
                <a:latin typeface="Helvetica Neue"/>
              </a:rPr>
              <a:t>Ops Portal</a:t>
            </a:r>
          </a:p>
        </p:txBody>
      </p:sp>
      <p:sp>
        <p:nvSpPr>
          <p:cNvPr id="6" name="Rectangle 5"/>
          <p:cNvSpPr/>
          <p:nvPr/>
        </p:nvSpPr>
        <p:spPr>
          <a:xfrm>
            <a:off x="822960" y="1627632"/>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6675120" cy="822960"/>
          </a:xfrm>
          <a:prstGeom prst="rect">
            <a:avLst/>
          </a:prstGeom>
          <a:noFill/>
        </p:spPr>
        <p:txBody>
          <a:bodyPr wrap="square" anchor="t" lIns="0" rIns="0" tIns="0" bIns="0">
            <a:spAutoFit/>
          </a:bodyPr>
          <a:lstStyle/>
          <a:p>
            <a:pPr algn="l">
              <a:lnSpc>
                <a:spcPct val="132000"/>
              </a:lnSpc>
            </a:pPr>
            <a:r>
              <a:rPr sz="1400" b="0">
                <a:solidFill>
                  <a:srgbClr val="5A5F5B"/>
                </a:solidFill>
                <a:latin typeface="Helvetica Neue"/>
              </a:rPr>
              <a:t>A staff support console with identities fully separate from customer identities, permission-based access control, caller verification, and an actor/target audit chain.</a:t>
            </a:r>
          </a:p>
        </p:txBody>
      </p:sp>
      <p:sp>
        <p:nvSpPr>
          <p:cNvPr id="8" name="TextBox 7"/>
          <p:cNvSpPr txBox="1"/>
          <p:nvPr/>
        </p:nvSpPr>
        <p:spPr>
          <a:xfrm>
            <a:off x="822960" y="2761488"/>
            <a:ext cx="6675120" cy="274320"/>
          </a:xfrm>
          <a:prstGeom prst="rect">
            <a:avLst/>
          </a:prstGeom>
          <a:noFill/>
        </p:spPr>
        <p:txBody>
          <a:bodyPr wrap="square" anchor="t" lIns="0" rIns="0" tIns="0" bIns="0">
            <a:spAutoFit/>
          </a:bodyPr>
          <a:lstStyle/>
          <a:p>
            <a:pPr algn="l">
              <a:lnSpc>
                <a:spcPct val="125000"/>
              </a:lnSpc>
            </a:pPr>
            <a:r>
              <a:rPr sz="1100" b="1">
                <a:solidFill>
                  <a:srgbClr val="2D6B52"/>
                </a:solidFill>
                <a:latin typeface="Helvetica Neue"/>
              </a:rPr>
              <a:t>DEMO STEPS</a:t>
            </a:r>
          </a:p>
        </p:txBody>
      </p:sp>
      <p:sp>
        <p:nvSpPr>
          <p:cNvPr id="9" name="TextBox 8"/>
          <p:cNvSpPr txBox="1"/>
          <p:nvPr/>
        </p:nvSpPr>
        <p:spPr>
          <a:xfrm>
            <a:off x="822960" y="3090672"/>
            <a:ext cx="6675120" cy="3017520"/>
          </a:xfrm>
          <a:prstGeom prst="rect">
            <a:avLst/>
          </a:prstGeom>
          <a:noFill/>
        </p:spPr>
        <p:txBody>
          <a:bodyPr wrap="square" anchor="t" lIns="0" rIns="0" tIns="0" bIns="0">
            <a:spAutoFit/>
          </a:bodyPr>
          <a:lstStyle/>
          <a:p>
            <a:pPr algn="l">
              <a:lnSpc>
                <a:spcPct val="122000"/>
              </a:lnSpc>
            </a:pPr>
            <a:r>
              <a:rPr sz="1400" b="0">
                <a:solidFill>
                  <a:srgbClr val="1C1C1A"/>
                </a:solidFill>
                <a:latin typeface="Helvetica Neue"/>
              </a:rPr>
              <a:t>1.  Describe rather than demo — separate login at /ops.</a:t>
            </a:r>
          </a:p>
          <a:p>
            <a:pPr algn="l">
              <a:lnSpc>
                <a:spcPct val="122000"/>
              </a:lnSpc>
              <a:spcBef>
                <a:spcPts val="700"/>
              </a:spcBef>
            </a:pPr>
            <a:r>
              <a:rPr sz="1400" b="0">
                <a:solidFill>
                  <a:srgbClr val="1C1C1A"/>
                </a:solidFill>
                <a:latin typeface="Helvetica Neue"/>
              </a:rPr>
              <a:t>2.  If showing: customer 360, caller verification, tiered disclosure.</a:t>
            </a:r>
          </a:p>
          <a:p>
            <a:pPr algn="l">
              <a:lnSpc>
                <a:spcPct val="122000"/>
              </a:lnSpc>
              <a:spcBef>
                <a:spcPts val="700"/>
              </a:spcBef>
            </a:pPr>
            <a:r>
              <a:rPr sz="1400" b="0">
                <a:solidFill>
                  <a:srgbClr val="1C1C1A"/>
                </a:solidFill>
                <a:latin typeface="Helvetica Neue"/>
              </a:rPr>
              <a:t>3.  Show PII reveal requiring a typed reason.</a:t>
            </a:r>
          </a:p>
        </p:txBody>
      </p:sp>
      <p:sp>
        <p:nvSpPr>
          <p:cNvPr id="10" name="Rectangle 9"/>
          <p:cNvSpPr/>
          <p:nvPr/>
        </p:nvSpPr>
        <p:spPr>
          <a:xfrm>
            <a:off x="7909560" y="1874519"/>
            <a:ext cx="3456432" cy="393192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874519"/>
            <a:ext cx="54864" cy="393192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0456" y="2148840"/>
            <a:ext cx="2834640" cy="274320"/>
          </a:xfrm>
          <a:prstGeom prst="rect">
            <a:avLst/>
          </a:prstGeom>
          <a:noFill/>
        </p:spPr>
        <p:txBody>
          <a:bodyPr wrap="square" anchor="t" lIns="0" rIns="0" tIns="0" bIns="0">
            <a:spAutoFit/>
          </a:bodyPr>
          <a:lstStyle/>
          <a:p>
            <a:pPr algn="l">
              <a:lnSpc>
                <a:spcPct val="125000"/>
              </a:lnSpc>
            </a:pPr>
            <a:r>
              <a:rPr sz="1100" b="1">
                <a:solidFill>
                  <a:srgbClr val="F0C878"/>
                </a:solidFill>
                <a:latin typeface="Helvetica Neue"/>
              </a:rPr>
              <a:t>SAY THIS</a:t>
            </a:r>
          </a:p>
        </p:txBody>
      </p:sp>
      <p:sp>
        <p:nvSpPr>
          <p:cNvPr id="13" name="TextBox 12"/>
          <p:cNvSpPr txBox="1"/>
          <p:nvPr/>
        </p:nvSpPr>
        <p:spPr>
          <a:xfrm>
            <a:off x="8220456" y="2514600"/>
            <a:ext cx="2834640" cy="3017520"/>
          </a:xfrm>
          <a:prstGeom prst="rect">
            <a:avLst/>
          </a:prstGeom>
          <a:noFill/>
        </p:spPr>
        <p:txBody>
          <a:bodyPr wrap="square" anchor="t" lIns="0" rIns="0" tIns="0" bIns="0">
            <a:spAutoFit/>
          </a:bodyPr>
          <a:lstStyle/>
          <a:p>
            <a:pPr algn="l">
              <a:lnSpc>
                <a:spcPct val="134000"/>
              </a:lnSpc>
            </a:pPr>
            <a:r>
              <a:rPr sz="1400" b="0">
                <a:solidFill>
                  <a:srgbClr val="FFFFFF"/>
                </a:solidFill>
                <a:latin typeface="Helvetica Neue"/>
              </a:rPr>
              <a:t>“Support staff have completely separate accounts — a staff token is refused on customer routes, so an agent's credential can never act as a customer. Revealing a customer's personal data requires a typed reason that gets permanently recorded.”</a:t>
            </a:r>
          </a:p>
        </p:txBody>
      </p:sp>
      <p:sp>
        <p:nvSpPr>
          <p:cNvPr id="14" name="TextBox 13"/>
          <p:cNvSpPr txBox="1"/>
          <p:nvPr/>
        </p:nvSpPr>
        <p:spPr>
          <a:xfrm>
            <a:off x="822960" y="6144768"/>
            <a:ext cx="6675120" cy="457200"/>
          </a:xfrm>
          <a:prstGeom prst="rect">
            <a:avLst/>
          </a:prstGeom>
          <a:noFill/>
        </p:spPr>
        <p:txBody>
          <a:bodyPr wrap="square" anchor="t" lIns="0" rIns="0" tIns="0" bIns="0">
            <a:spAutoFit/>
          </a:bodyPr>
          <a:lstStyle/>
          <a:p>
            <a:pPr algn="l">
              <a:lnSpc>
                <a:spcPct val="120000"/>
              </a:lnSpc>
            </a:pPr>
            <a:r>
              <a:rPr sz="1150" b="1">
                <a:solidFill>
                  <a:srgbClr val="C9973A"/>
                </a:solidFill>
                <a:latin typeface="Helvetica Neue"/>
              </a:rPr>
              <a:t>[MISSING: decide whether to show at all — needs a seeded staff account]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03</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Presenter Notes</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Transitions, pacing, the three moments, and the questions you'll be asked.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SCRIPT NOTES</a:t>
            </a:r>
          </a:p>
        </p:txBody>
      </p:sp>
      <p:sp>
        <p:nvSpPr>
          <p:cNvPr id="5" name="TextBox 4"/>
          <p:cNvSpPr txBox="1"/>
          <p:nvPr/>
        </p:nvSpPr>
        <p:spPr>
          <a:xfrm>
            <a:off x="822960" y="841248"/>
            <a:ext cx="10515600" cy="731520"/>
          </a:xfrm>
          <a:prstGeom prst="rect">
            <a:avLst/>
          </a:prstGeom>
          <a:noFill/>
        </p:spPr>
        <p:txBody>
          <a:bodyPr wrap="square" anchor="t" lIns="0" rIns="0" tIns="0" bIns="0">
            <a:spAutoFit/>
          </a:bodyPr>
          <a:lstStyle/>
          <a:p>
            <a:pPr algn="l">
              <a:lnSpc>
                <a:spcPct val="110000"/>
              </a:lnSpc>
            </a:pPr>
            <a:r>
              <a:rPr sz="3100" b="1">
                <a:solidFill>
                  <a:srgbClr val="1A4D3B"/>
                </a:solidFill>
                <a:latin typeface="Helvetica Neue"/>
              </a:rPr>
              <a:t>Transitions carry the narrative</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22960" y="1874519"/>
          <a:ext cx="10515600" cy="4279392"/>
        </p:xfrm>
        <a:graphic>
          <a:graphicData uri="http://schemas.openxmlformats.org/drawingml/2006/table">
            <a:tbl>
              <a:tblPr firstRow="1" bandRow="1">
                <a:tableStyleId>{5C22544A-7EE6-4342-B048-85BDC9FD1C3A}</a:tableStyleId>
              </a:tblPr>
              <a:tblGrid>
                <a:gridCol w="2743200"/>
                <a:gridCol w="7772400"/>
              </a:tblGrid>
              <a:tr h="475488">
                <a:tc>
                  <a:txBody>
                    <a:bodyPr/>
                    <a:lstStyle/>
                    <a:p>
                      <a:r>
                        <a:rPr sz="1300" b="1">
                          <a:solidFill>
                            <a:srgbClr val="FFFFFF"/>
                          </a:solidFill>
                        </a:rPr>
                        <a:t>Between</a:t>
                      </a:r>
                    </a:p>
                  </a:txBody>
                  <a:tcPr anchor="ctr" marL="128016">
                    <a:solidFill>
                      <a:srgbClr val="1A4D3B"/>
                    </a:solidFill>
                  </a:tcPr>
                </a:tc>
                <a:tc>
                  <a:txBody>
                    <a:bodyPr/>
                    <a:lstStyle/>
                    <a:p>
                      <a:r>
                        <a:rPr sz="1300" b="1">
                          <a:solidFill>
                            <a:srgbClr val="FFFFFF"/>
                          </a:solidFill>
                        </a:rPr>
                        <a:t>Say</a:t>
                      </a:r>
                    </a:p>
                  </a:txBody>
                  <a:tcPr anchor="ctr" marL="128016">
                    <a:solidFill>
                      <a:srgbClr val="1A4D3B"/>
                    </a:solidFill>
                  </a:tcPr>
                </a:tc>
              </a:tr>
              <a:tr h="475488">
                <a:tc>
                  <a:txBody>
                    <a:bodyPr/>
                    <a:lstStyle/>
                    <a:p>
                      <a:r>
                        <a:rPr sz="1200" b="1">
                          <a:solidFill>
                            <a:srgbClr val="1C1C1A"/>
                          </a:solidFill>
                        </a:rPr>
                        <a:t>Open → Personal</a:t>
                      </a:r>
                    </a:p>
                  </a:txBody>
                  <a:tcPr anchor="ctr" marL="128016">
                    <a:solidFill>
                      <a:srgbClr val="FFFFFF"/>
                    </a:solidFill>
                  </a:tcPr>
                </a:tc>
                <a:tc>
                  <a:txBody>
                    <a:bodyPr/>
                    <a:lstStyle/>
                    <a:p>
                      <a:r>
                        <a:rPr sz="1200" b="0">
                          <a:solidFill>
                            <a:srgbClr val="1C1C1A"/>
                          </a:solidFill>
                        </a:rPr>
                        <a:t>“Let me show you what Maria sees on a Monday morning.”</a:t>
                      </a:r>
                    </a:p>
                  </a:txBody>
                  <a:tcPr anchor="ctr" marL="128016">
                    <a:solidFill>
                      <a:srgbClr val="FFFFFF"/>
                    </a:solidFill>
                  </a:tcPr>
                </a:tc>
              </a:tr>
              <a:tr h="475488">
                <a:tc>
                  <a:txBody>
                    <a:bodyPr/>
                    <a:lstStyle/>
                    <a:p>
                      <a:r>
                        <a:rPr sz="1200" b="1">
                          <a:solidFill>
                            <a:srgbClr val="1C1C1A"/>
                          </a:solidFill>
                        </a:rPr>
                        <a:t>Personal → Business</a:t>
                      </a:r>
                    </a:p>
                  </a:txBody>
                  <a:tcPr anchor="ctr" marL="128016">
                    <a:solidFill>
                      <a:srgbClr val="E4ECE6"/>
                    </a:solidFill>
                  </a:tcPr>
                </a:tc>
                <a:tc>
                  <a:txBody>
                    <a:bodyPr/>
                    <a:lstStyle/>
                    <a:p>
                      <a:r>
                        <a:rPr sz="1200" b="0">
                          <a:solidFill>
                            <a:srgbClr val="1C1C1A"/>
                          </a:solidFill>
                        </a:rPr>
                        <a:t>“Other apps do a version of that. Here's what nobody else does.”</a:t>
                      </a:r>
                    </a:p>
                  </a:txBody>
                  <a:tcPr anchor="ctr" marL="128016">
                    <a:solidFill>
                      <a:srgbClr val="E4ECE6"/>
                    </a:solidFill>
                  </a:tcPr>
                </a:tc>
              </a:tr>
              <a:tr h="475488">
                <a:tc>
                  <a:txBody>
                    <a:bodyPr/>
                    <a:lstStyle/>
                    <a:p>
                      <a:r>
                        <a:rPr sz="1200" b="1">
                          <a:solidFill>
                            <a:srgbClr val="1C1C1A"/>
                          </a:solidFill>
                        </a:rPr>
                        <a:t>Forecast → AR aging</a:t>
                      </a:r>
                    </a:p>
                  </a:txBody>
                  <a:tcPr anchor="ctr" marL="128016">
                    <a:solidFill>
                      <a:srgbClr val="FFFFFF"/>
                    </a:solidFill>
                  </a:tcPr>
                </a:tc>
                <a:tc>
                  <a:txBody>
                    <a:bodyPr/>
                    <a:lstStyle/>
                    <a:p>
                      <a:r>
                        <a:rPr sz="1200" b="0">
                          <a:solidFill>
                            <a:srgbClr val="1C1C1A"/>
                          </a:solidFill>
                        </a:rPr>
                        <a:t>“And it doesn't just warn her. It shows her why.”</a:t>
                      </a:r>
                    </a:p>
                  </a:txBody>
                  <a:tcPr anchor="ctr" marL="128016">
                    <a:solidFill>
                      <a:srgbClr val="FFFFFF"/>
                    </a:solidFill>
                  </a:tcPr>
                </a:tc>
              </a:tr>
              <a:tr h="475488">
                <a:tc>
                  <a:txBody>
                    <a:bodyPr/>
                    <a:lstStyle/>
                    <a:p>
                      <a:r>
                        <a:rPr sz="1200" b="1">
                          <a:solidFill>
                            <a:srgbClr val="1C1C1A"/>
                          </a:solidFill>
                        </a:rPr>
                        <a:t>AR aging → Invoicing</a:t>
                      </a:r>
                    </a:p>
                  </a:txBody>
                  <a:tcPr anchor="ctr" marL="128016">
                    <a:solidFill>
                      <a:srgbClr val="E4ECE6"/>
                    </a:solidFill>
                  </a:tcPr>
                </a:tc>
                <a:tc>
                  <a:txBody>
                    <a:bodyPr/>
                    <a:lstStyle/>
                    <a:p>
                      <a:r>
                        <a:rPr sz="1200" b="0">
                          <a:solidFill>
                            <a:srgbClr val="1C1C1A"/>
                          </a:solidFill>
                        </a:rPr>
                        <a:t>“And she fixes it from the same screen.”</a:t>
                      </a:r>
                    </a:p>
                  </a:txBody>
                  <a:tcPr anchor="ctr" marL="128016">
                    <a:solidFill>
                      <a:srgbClr val="E4ECE6"/>
                    </a:solidFill>
                  </a:tcPr>
                </a:tc>
              </a:tr>
              <a:tr h="475488">
                <a:tc>
                  <a:txBody>
                    <a:bodyPr/>
                    <a:lstStyle/>
                    <a:p>
                      <a:r>
                        <a:rPr sz="1200" b="1">
                          <a:solidFill>
                            <a:srgbClr val="1C1C1A"/>
                          </a:solidFill>
                        </a:rPr>
                        <a:t>Business → Property</a:t>
                      </a:r>
                    </a:p>
                  </a:txBody>
                  <a:tcPr anchor="ctr" marL="128016">
                    <a:solidFill>
                      <a:srgbClr val="FFFFFF"/>
                    </a:solidFill>
                  </a:tcPr>
                </a:tc>
                <a:tc>
                  <a:txBody>
                    <a:bodyPr/>
                    <a:lstStyle/>
                    <a:p>
                      <a:r>
                        <a:rPr sz="1200" b="0">
                          <a:solidFill>
                            <a:srgbClr val="1C1C1A"/>
                          </a:solidFill>
                        </a:rPr>
                        <a:t>“That's the business. Now the third piece — the properties.”</a:t>
                      </a:r>
                    </a:p>
                  </a:txBody>
                  <a:tcPr anchor="ctr" marL="128016">
                    <a:solidFill>
                      <a:srgbClr val="FFFFFF"/>
                    </a:solidFill>
                  </a:tcPr>
                </a:tc>
              </a:tr>
              <a:tr h="475488">
                <a:tc>
                  <a:txBody>
                    <a:bodyPr/>
                    <a:lstStyle/>
                    <a:p>
                      <a:r>
                        <a:rPr sz="1200" b="1">
                          <a:solidFill>
                            <a:srgbClr val="1C1C1A"/>
                          </a:solidFill>
                        </a:rPr>
                        <a:t>Property → Tax</a:t>
                      </a:r>
                    </a:p>
                  </a:txBody>
                  <a:tcPr anchor="ctr" marL="128016">
                    <a:solidFill>
                      <a:srgbClr val="E4ECE6"/>
                    </a:solidFill>
                  </a:tcPr>
                </a:tc>
                <a:tc>
                  <a:txBody>
                    <a:bodyPr/>
                    <a:lstStyle/>
                    <a:p>
                      <a:r>
                        <a:rPr sz="1200" b="0">
                          <a:solidFill>
                            <a:srgbClr val="1C1C1A"/>
                          </a:solidFill>
                        </a:rPr>
                        <a:t>“Why does this matter so much? Because of what it unlocks.”</a:t>
                      </a:r>
                    </a:p>
                  </a:txBody>
                  <a:tcPr anchor="ctr" marL="128016">
                    <a:solidFill>
                      <a:srgbClr val="E4ECE6"/>
                    </a:solidFill>
                  </a:tcPr>
                </a:tc>
              </a:tr>
              <a:tr h="475488">
                <a:tc>
                  <a:txBody>
                    <a:bodyPr/>
                    <a:lstStyle/>
                    <a:p>
                      <a:r>
                        <a:rPr sz="1200" b="1">
                          <a:solidFill>
                            <a:srgbClr val="1C1C1A"/>
                          </a:solidFill>
                        </a:rPr>
                        <a:t>Tax → Documents</a:t>
                      </a:r>
                    </a:p>
                  </a:txBody>
                  <a:tcPr anchor="ctr" marL="128016">
                    <a:solidFill>
                      <a:srgbClr val="FFFFFF"/>
                    </a:solidFill>
                  </a:tcPr>
                </a:tc>
                <a:tc>
                  <a:txBody>
                    <a:bodyPr/>
                    <a:lstStyle/>
                    <a:p>
                      <a:r>
                        <a:rPr sz="1200" b="0">
                          <a:solidFill>
                            <a:srgbClr val="1C1C1A"/>
                          </a:solidFill>
                        </a:rPr>
                        <a:t>“And here's how the year ends.”</a:t>
                      </a:r>
                    </a:p>
                  </a:txBody>
                  <a:tcPr anchor="ctr" marL="128016">
                    <a:solidFill>
                      <a:srgbClr val="FFFFFF"/>
                    </a:solidFill>
                  </a:tcPr>
                </a:tc>
              </a:tr>
              <a:tr h="475488">
                <a:tc>
                  <a:txBody>
                    <a:bodyPr/>
                    <a:lstStyle/>
                    <a:p>
                      <a:r>
                        <a:rPr sz="1200" b="1">
                          <a:solidFill>
                            <a:srgbClr val="1C1C1A"/>
                          </a:solidFill>
                        </a:rPr>
                        <a:t>Documents → Close</a:t>
                      </a:r>
                    </a:p>
                  </a:txBody>
                  <a:tcPr anchor="ctr" marL="128016">
                    <a:solidFill>
                      <a:srgbClr val="E4ECE6"/>
                    </a:solidFill>
                  </a:tcPr>
                </a:tc>
                <a:tc>
                  <a:txBody>
                    <a:bodyPr/>
                    <a:lstStyle/>
                    <a:p>
                      <a:r>
                        <a:rPr sz="1200" b="0">
                          <a:solidFill>
                            <a:srgbClr val="1C1C1A"/>
                          </a:solidFill>
                        </a:rPr>
                        <a:t>“One link. Instead of a folder and a weekend.”</a:t>
                      </a:r>
                    </a:p>
                  </a:txBody>
                  <a:tcPr anchor="ctr" marL="128016">
                    <a:solidFill>
                      <a:srgbClr val="E4ECE6"/>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SCRIPT NOTES</a:t>
            </a:r>
          </a:p>
        </p:txBody>
      </p:sp>
      <p:sp>
        <p:nvSpPr>
          <p:cNvPr id="5" name="TextBox 4"/>
          <p:cNvSpPr txBox="1"/>
          <p:nvPr/>
        </p:nvSpPr>
        <p:spPr>
          <a:xfrm>
            <a:off x="822960" y="841248"/>
            <a:ext cx="10515600" cy="731520"/>
          </a:xfrm>
          <a:prstGeom prst="rect">
            <a:avLst/>
          </a:prstGeom>
          <a:noFill/>
        </p:spPr>
        <p:txBody>
          <a:bodyPr wrap="square" anchor="t" lIns="0" rIns="0" tIns="0" bIns="0">
            <a:spAutoFit/>
          </a:bodyPr>
          <a:lstStyle/>
          <a:p>
            <a:pPr algn="l">
              <a:lnSpc>
                <a:spcPct val="110000"/>
              </a:lnSpc>
            </a:pPr>
            <a:r>
              <a:rPr sz="3100" b="1">
                <a:solidFill>
                  <a:srgbClr val="1A4D3B"/>
                </a:solidFill>
                <a:latin typeface="Helvetica Neue"/>
              </a:rPr>
              <a:t>Pacing</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22960" y="1874519"/>
          <a:ext cx="10515599" cy="3328416"/>
        </p:xfrm>
        <a:graphic>
          <a:graphicData uri="http://schemas.openxmlformats.org/drawingml/2006/table">
            <a:tbl>
              <a:tblPr firstRow="1" bandRow="1">
                <a:tableStyleId>{5C22544A-7EE6-4342-B048-85BDC9FD1C3A}</a:tableStyleId>
              </a:tblPr>
              <a:tblGrid>
                <a:gridCol w="2377440"/>
                <a:gridCol w="1280159"/>
                <a:gridCol w="6858000"/>
              </a:tblGrid>
              <a:tr h="475488">
                <a:tc>
                  <a:txBody>
                    <a:bodyPr/>
                    <a:lstStyle/>
                    <a:p>
                      <a:r>
                        <a:rPr sz="1300" b="1">
                          <a:solidFill>
                            <a:srgbClr val="FFFFFF"/>
                          </a:solidFill>
                        </a:rPr>
                        <a:t>Module</a:t>
                      </a:r>
                    </a:p>
                  </a:txBody>
                  <a:tcPr anchor="ctr" marL="128016">
                    <a:solidFill>
                      <a:srgbClr val="1A4D3B"/>
                    </a:solidFill>
                  </a:tcPr>
                </a:tc>
                <a:tc>
                  <a:txBody>
                    <a:bodyPr/>
                    <a:lstStyle/>
                    <a:p>
                      <a:r>
                        <a:rPr sz="1300" b="1">
                          <a:solidFill>
                            <a:srgbClr val="FFFFFF"/>
                          </a:solidFill>
                        </a:rPr>
                        <a:t>Time</a:t>
                      </a:r>
                    </a:p>
                  </a:txBody>
                  <a:tcPr anchor="ctr" marL="128016">
                    <a:solidFill>
                      <a:srgbClr val="1A4D3B"/>
                    </a:solidFill>
                  </a:tcPr>
                </a:tc>
                <a:tc>
                  <a:txBody>
                    <a:bodyPr/>
                    <a:lstStyle/>
                    <a:p>
                      <a:r>
                        <a:rPr sz="1300" b="1">
                          <a:solidFill>
                            <a:srgbClr val="FFFFFF"/>
                          </a:solidFill>
                        </a:rPr>
                        <a:t>How to play it</a:t>
                      </a:r>
                    </a:p>
                  </a:txBody>
                  <a:tcPr anchor="ctr" marL="128016">
                    <a:solidFill>
                      <a:srgbClr val="1A4D3B"/>
                    </a:solidFill>
                  </a:tcPr>
                </a:tc>
              </a:tr>
              <a:tr h="475488">
                <a:tc>
                  <a:txBody>
                    <a:bodyPr/>
                    <a:lstStyle/>
                    <a:p>
                      <a:r>
                        <a:rPr sz="1200" b="1">
                          <a:solidFill>
                            <a:srgbClr val="1C1C1A"/>
                          </a:solidFill>
                        </a:rPr>
                        <a:t>A · Personal</a:t>
                      </a:r>
                    </a:p>
                  </a:txBody>
                  <a:tcPr anchor="ctr" marL="128016">
                    <a:solidFill>
                      <a:srgbClr val="FFFFFF"/>
                    </a:solidFill>
                  </a:tcPr>
                </a:tc>
                <a:tc>
                  <a:txBody>
                    <a:bodyPr/>
                    <a:lstStyle/>
                    <a:p>
                      <a:r>
                        <a:rPr sz="1200" b="0">
                          <a:solidFill>
                            <a:srgbClr val="1C1C1A"/>
                          </a:solidFill>
                        </a:rPr>
                        <a:t>5 min</a:t>
                      </a:r>
                    </a:p>
                  </a:txBody>
                  <a:tcPr anchor="ctr" marL="128016">
                    <a:solidFill>
                      <a:srgbClr val="FFFFFF"/>
                    </a:solidFill>
                  </a:tcPr>
                </a:tc>
                <a:tc>
                  <a:txBody>
                    <a:bodyPr/>
                    <a:lstStyle/>
                    <a:p>
                      <a:r>
                        <a:rPr sz="1200" b="0">
                          <a:solidFill>
                            <a:srgbClr val="1C1C1A"/>
                          </a:solidFill>
                        </a:rPr>
                        <a:t>Brisk. Establishes competence. Only feature 1 gets real time.</a:t>
                      </a:r>
                    </a:p>
                  </a:txBody>
                  <a:tcPr anchor="ctr" marL="128016">
                    <a:solidFill>
                      <a:srgbClr val="FFFFFF"/>
                    </a:solidFill>
                  </a:tcPr>
                </a:tc>
              </a:tr>
              <a:tr h="475488">
                <a:tc>
                  <a:txBody>
                    <a:bodyPr/>
                    <a:lstStyle/>
                    <a:p>
                      <a:r>
                        <a:rPr sz="1200" b="1">
                          <a:solidFill>
                            <a:srgbClr val="1C1C1A"/>
                          </a:solidFill>
                        </a:rPr>
                        <a:t>B · Business</a:t>
                      </a:r>
                    </a:p>
                  </a:txBody>
                  <a:tcPr anchor="ctr" marL="128016">
                    <a:solidFill>
                      <a:srgbClr val="E4ECE6"/>
                    </a:solidFill>
                  </a:tcPr>
                </a:tc>
                <a:tc>
                  <a:txBody>
                    <a:bodyPr/>
                    <a:lstStyle/>
                    <a:p>
                      <a:r>
                        <a:rPr sz="1200" b="0">
                          <a:solidFill>
                            <a:srgbClr val="1C1C1A"/>
                          </a:solidFill>
                        </a:rPr>
                        <a:t>7 min</a:t>
                      </a:r>
                    </a:p>
                  </a:txBody>
                  <a:tcPr anchor="ctr" marL="128016">
                    <a:solidFill>
                      <a:srgbClr val="E4ECE6"/>
                    </a:solidFill>
                  </a:tcPr>
                </a:tc>
                <a:tc>
                  <a:txBody>
                    <a:bodyPr/>
                    <a:lstStyle/>
                    <a:p>
                      <a:r>
                        <a:rPr sz="1200" b="0">
                          <a:solidFill>
                            <a:srgbClr val="1C1C1A"/>
                          </a:solidFill>
                        </a:rPr>
                        <a:t>Slowest section. Features 12–14 are your strongest sequence.</a:t>
                      </a:r>
                    </a:p>
                  </a:txBody>
                  <a:tcPr anchor="ctr" marL="128016">
                    <a:solidFill>
                      <a:srgbClr val="E4ECE6"/>
                    </a:solidFill>
                  </a:tcPr>
                </a:tc>
              </a:tr>
              <a:tr h="475488">
                <a:tc>
                  <a:txBody>
                    <a:bodyPr/>
                    <a:lstStyle/>
                    <a:p>
                      <a:r>
                        <a:rPr sz="1200" b="1">
                          <a:solidFill>
                            <a:srgbClr val="1C1C1A"/>
                          </a:solidFill>
                        </a:rPr>
                        <a:t>C · Property</a:t>
                      </a:r>
                    </a:p>
                  </a:txBody>
                  <a:tcPr anchor="ctr" marL="128016">
                    <a:solidFill>
                      <a:srgbClr val="FFFFFF"/>
                    </a:solidFill>
                  </a:tcPr>
                </a:tc>
                <a:tc>
                  <a:txBody>
                    <a:bodyPr/>
                    <a:lstStyle/>
                    <a:p>
                      <a:r>
                        <a:rPr sz="1200" b="0">
                          <a:solidFill>
                            <a:srgbClr val="1C1C1A"/>
                          </a:solidFill>
                        </a:rPr>
                        <a:t>3 min</a:t>
                      </a:r>
                    </a:p>
                  </a:txBody>
                  <a:tcPr anchor="ctr" marL="128016">
                    <a:solidFill>
                      <a:srgbClr val="FFFFFF"/>
                    </a:solidFill>
                  </a:tcPr>
                </a:tc>
                <a:tc>
                  <a:txBody>
                    <a:bodyPr/>
                    <a:lstStyle/>
                    <a:p>
                      <a:r>
                        <a:rPr sz="1200" b="0">
                          <a:solidFill>
                            <a:srgbClr val="1C1C1A"/>
                          </a:solidFill>
                        </a:rPr>
                        <a:t>Steady. Sets up tax.</a:t>
                      </a:r>
                    </a:p>
                  </a:txBody>
                  <a:tcPr anchor="ctr" marL="128016">
                    <a:solidFill>
                      <a:srgbClr val="FFFFFF"/>
                    </a:solidFill>
                  </a:tcPr>
                </a:tc>
              </a:tr>
              <a:tr h="475488">
                <a:tc>
                  <a:txBody>
                    <a:bodyPr/>
                    <a:lstStyle/>
                    <a:p>
                      <a:r>
                        <a:rPr sz="1200" b="1">
                          <a:solidFill>
                            <a:srgbClr val="1C1C1A"/>
                          </a:solidFill>
                        </a:rPr>
                        <a:t>D · Tax &amp; Docs</a:t>
                      </a:r>
                    </a:p>
                  </a:txBody>
                  <a:tcPr anchor="ctr" marL="128016">
                    <a:solidFill>
                      <a:srgbClr val="E4ECE6"/>
                    </a:solidFill>
                  </a:tcPr>
                </a:tc>
                <a:tc>
                  <a:txBody>
                    <a:bodyPr/>
                    <a:lstStyle/>
                    <a:p>
                      <a:r>
                        <a:rPr sz="1200" b="0">
                          <a:solidFill>
                            <a:srgbClr val="1C1C1A"/>
                          </a:solidFill>
                        </a:rPr>
                        <a:t>6 min</a:t>
                      </a:r>
                    </a:p>
                  </a:txBody>
                  <a:tcPr anchor="ctr" marL="128016">
                    <a:solidFill>
                      <a:srgbClr val="E4ECE6"/>
                    </a:solidFill>
                  </a:tcPr>
                </a:tc>
                <a:tc>
                  <a:txBody>
                    <a:bodyPr/>
                    <a:lstStyle/>
                    <a:p>
                      <a:r>
                        <a:rPr sz="1200" b="0">
                          <a:solidFill>
                            <a:srgbClr val="1C1C1A"/>
                          </a:solidFill>
                        </a:rPr>
                        <a:t>Second-slowest. Feature 30 is your differentiation.</a:t>
                      </a:r>
                    </a:p>
                  </a:txBody>
                  <a:tcPr anchor="ctr" marL="128016">
                    <a:solidFill>
                      <a:srgbClr val="E4ECE6"/>
                    </a:solidFill>
                  </a:tcPr>
                </a:tc>
              </a:tr>
              <a:tr h="475488">
                <a:tc>
                  <a:txBody>
                    <a:bodyPr/>
                    <a:lstStyle/>
                    <a:p>
                      <a:r>
                        <a:rPr sz="1200" b="1">
                          <a:solidFill>
                            <a:srgbClr val="1C1C1A"/>
                          </a:solidFill>
                        </a:rPr>
                        <a:t>E · Intelligence</a:t>
                      </a:r>
                    </a:p>
                  </a:txBody>
                  <a:tcPr anchor="ctr" marL="128016">
                    <a:solidFill>
                      <a:srgbClr val="FFFFFF"/>
                    </a:solidFill>
                  </a:tcPr>
                </a:tc>
                <a:tc>
                  <a:txBody>
                    <a:bodyPr/>
                    <a:lstStyle/>
                    <a:p>
                      <a:r>
                        <a:rPr sz="1200" b="0">
                          <a:solidFill>
                            <a:srgbClr val="1C1C1A"/>
                          </a:solidFill>
                        </a:rPr>
                        <a:t>2 min</a:t>
                      </a:r>
                    </a:p>
                  </a:txBody>
                  <a:tcPr anchor="ctr" marL="128016">
                    <a:solidFill>
                      <a:srgbClr val="FFFFFF"/>
                    </a:solidFill>
                  </a:tcPr>
                </a:tc>
                <a:tc>
                  <a:txBody>
                    <a:bodyPr/>
                    <a:lstStyle/>
                    <a:p>
                      <a:r>
                        <a:rPr sz="1200" b="0">
                          <a:solidFill>
                            <a:srgbClr val="1C1C1A"/>
                          </a:solidFill>
                        </a:rPr>
                        <a:t>Quick. Shows completeness.</a:t>
                      </a:r>
                    </a:p>
                  </a:txBody>
                  <a:tcPr anchor="ctr" marL="128016">
                    <a:solidFill>
                      <a:srgbClr val="FFFFFF"/>
                    </a:solidFill>
                  </a:tcPr>
                </a:tc>
              </a:tr>
              <a:tr h="475488">
                <a:tc>
                  <a:txBody>
                    <a:bodyPr/>
                    <a:lstStyle/>
                    <a:p>
                      <a:r>
                        <a:rPr sz="1200" b="1">
                          <a:solidFill>
                            <a:srgbClr val="1C1C1A"/>
                          </a:solidFill>
                        </a:rPr>
                        <a:t>F · Platform</a:t>
                      </a:r>
                    </a:p>
                  </a:txBody>
                  <a:tcPr anchor="ctr" marL="128016">
                    <a:solidFill>
                      <a:srgbClr val="E4ECE6"/>
                    </a:solidFill>
                  </a:tcPr>
                </a:tc>
                <a:tc>
                  <a:txBody>
                    <a:bodyPr/>
                    <a:lstStyle/>
                    <a:p>
                      <a:r>
                        <a:rPr sz="1200" b="0">
                          <a:solidFill>
                            <a:srgbClr val="1C1C1A"/>
                          </a:solidFill>
                        </a:rPr>
                        <a:t>2 min</a:t>
                      </a:r>
                    </a:p>
                  </a:txBody>
                  <a:tcPr anchor="ctr" marL="128016">
                    <a:solidFill>
                      <a:srgbClr val="E4ECE6"/>
                    </a:solidFill>
                  </a:tcPr>
                </a:tc>
                <a:tc>
                  <a:txBody>
                    <a:bodyPr/>
                    <a:lstStyle/>
                    <a:p>
                      <a:r>
                        <a:rPr sz="1200" b="0">
                          <a:solidFill>
                            <a:srgbClr val="1C1C1A"/>
                          </a:solidFill>
                        </a:rPr>
                        <a:t>Fast. Close on 43 for investors.</a:t>
                      </a:r>
                    </a:p>
                  </a:txBody>
                  <a:tcPr anchor="ctr" marL="128016">
                    <a:solidFill>
                      <a:srgbClr val="E4ECE6"/>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SCRIPT NOTES</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The three moments that decide the demo</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2100" b="1">
                <a:solidFill>
                  <a:srgbClr val="C9973A"/>
                </a:solidFill>
                <a:latin typeface="Helvetica Neue"/>
              </a:rPr>
              <a:t>12  ·  The cash forecast</a:t>
            </a:r>
          </a:p>
          <a:p>
            <a:pPr algn="l">
              <a:lnSpc>
                <a:spcPct val="130000"/>
              </a:lnSpc>
              <a:spcBef>
                <a:spcPts val="400"/>
              </a:spcBef>
            </a:pPr>
            <a:r>
              <a:rPr sz="1500" b="0">
                <a:solidFill>
                  <a:srgbClr val="1C1C1A"/>
                </a:solidFill>
                <a:latin typeface="Helvetica Neue"/>
              </a:rPr>
              <a:t>After you say “she runs tight in nine weeks,” stop talking for two full seconds. The silence does the work. Business owners have a physical reaction to this screen.</a:t>
            </a:r>
          </a:p>
          <a:p>
            <a:pPr algn="l">
              <a:lnSpc>
                <a:spcPct val="130000"/>
              </a:lnSpc>
              <a:spcBef>
                <a:spcPts val="1800"/>
              </a:spcBef>
            </a:pPr>
            <a:r>
              <a:rPr sz="2100" b="1">
                <a:solidFill>
                  <a:srgbClr val="C9973A"/>
                </a:solidFill>
                <a:latin typeface="Helvetica Neue"/>
              </a:rPr>
              <a:t>30  ·  Depreciation and suspended losses</a:t>
            </a:r>
          </a:p>
          <a:p>
            <a:pPr algn="l">
              <a:lnSpc>
                <a:spcPct val="130000"/>
              </a:lnSpc>
              <a:spcBef>
                <a:spcPts val="400"/>
              </a:spcBef>
            </a:pPr>
            <a:r>
              <a:rPr sz="1500" b="0">
                <a:solidFill>
                  <a:srgbClr val="1C1C1A"/>
                </a:solidFill>
                <a:latin typeface="Helvetica Neue"/>
              </a:rPr>
              <a:t>Slow right down and explain what each one is. Most people in the room won't know — and teaching them something is what makes the product feel expert rather than pretty.</a:t>
            </a:r>
          </a:p>
          <a:p>
            <a:pPr algn="l">
              <a:lnSpc>
                <a:spcPct val="130000"/>
              </a:lnSpc>
              <a:spcBef>
                <a:spcPts val="1800"/>
              </a:spcBef>
            </a:pPr>
            <a:r>
              <a:rPr sz="2100" b="1">
                <a:solidFill>
                  <a:srgbClr val="C9973A"/>
                </a:solidFill>
                <a:latin typeface="Helvetica Neue"/>
              </a:rPr>
              <a:t>34  ·  The CPA link</a:t>
            </a:r>
          </a:p>
          <a:p>
            <a:pPr algn="l">
              <a:lnSpc>
                <a:spcPct val="130000"/>
              </a:lnSpc>
              <a:spcBef>
                <a:spcPts val="400"/>
              </a:spcBef>
            </a:pPr>
            <a:r>
              <a:rPr sz="1500" b="0">
                <a:solidFill>
                  <a:srgbClr val="1C1C1A"/>
                </a:solidFill>
                <a:latin typeface="Helvetica Neue"/>
              </a:rPr>
              <a:t>The emotional payoff. Tie it explicitly back to the weekend-with-a-shoebox image from your opening.</a:t>
            </a:r>
          </a:p>
          <a:p>
            <a:pPr algn="l">
              <a:lnSpc>
                <a:spcPct val="130000"/>
              </a:lnSpc>
              <a:spcBef>
                <a:spcPts val="2000"/>
              </a:spcBef>
            </a:pPr>
            <a:r>
              <a:rPr sz="1400" b="1">
                <a:solidFill>
                  <a:srgbClr val="1A4D3B"/>
                </a:solidFill>
                <a:latin typeface="Helvetica Neue"/>
              </a:rPr>
              <a:t>Rehearse these three out loud, twice. Everything else you can narrate naturally from the app in front of you.</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AUDIENCE: END USERS</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Closing for USERS</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1600" b="0">
                <a:solidFill>
                  <a:srgbClr val="5A5F5B"/>
                </a:solidFill>
                <a:latin typeface="Helvetica Neue"/>
              </a:rPr>
              <a:t>They care about one thing: does this solve my problem?</a:t>
            </a:r>
          </a:p>
          <a:p>
            <a:pPr algn="l">
              <a:lnSpc>
                <a:spcPct val="130000"/>
              </a:lnSpc>
              <a:spcBef>
                <a:spcPts val="1400"/>
              </a:spcBef>
            </a:pPr>
            <a:r>
              <a:rPr sz="1700" b="1">
                <a:solidFill>
                  <a:srgbClr val="1C1C1A"/>
                </a:solidFill>
                <a:latin typeface="Helvetica Neue"/>
              </a:rPr>
              <a:t>“You don't need to change how you work. Link your accounts, add your properties once, and it keeps itself current. The tax deductions alone — the depreciation, the carried-forward losses, the 20% business deduction — usually cover the cost of the app many times over.”</a:t>
            </a:r>
          </a:p>
          <a:p>
            <a:pPr algn="l">
              <a:lnSpc>
                <a:spcPct val="130000"/>
              </a:lnSpc>
              <a:spcBef>
                <a:spcPts val="1800"/>
              </a:spcBef>
            </a:pPr>
            <a:r>
              <a:rPr sz="1500" b="1">
                <a:solidFill>
                  <a:srgbClr val="1A4D3B"/>
                </a:solidFill>
                <a:latin typeface="Helvetica Neue"/>
              </a:rPr>
              <a:t>Then turn it into a conversation:</a:t>
            </a:r>
          </a:p>
          <a:p>
            <a:pPr algn="l">
              <a:lnSpc>
                <a:spcPct val="130000"/>
              </a:lnSpc>
              <a:spcBef>
                <a:spcPts val="800"/>
              </a:spcBef>
            </a:pPr>
            <a:r>
              <a:rPr sz="1500" b="0">
                <a:solidFill>
                  <a:srgbClr val="1C1C1A"/>
                </a:solidFill>
                <a:latin typeface="Helvetica Neue"/>
              </a:rPr>
              <a:t>•  How do you track your rentals today?</a:t>
            </a:r>
          </a:p>
          <a:p>
            <a:pPr algn="l">
              <a:lnSpc>
                <a:spcPct val="130000"/>
              </a:lnSpc>
              <a:spcBef>
                <a:spcPts val="400"/>
              </a:spcBef>
            </a:pPr>
            <a:r>
              <a:rPr sz="1500" b="0">
                <a:solidFill>
                  <a:srgbClr val="1C1C1A"/>
                </a:solidFill>
                <a:latin typeface="Helvetica Neue"/>
              </a:rPr>
              <a:t>•  How long does tax preparation take you each year?</a:t>
            </a:r>
          </a:p>
          <a:p>
            <a:pPr algn="l">
              <a:lnSpc>
                <a:spcPct val="130000"/>
              </a:lnSpc>
              <a:spcBef>
                <a:spcPts val="400"/>
              </a:spcBef>
            </a:pPr>
            <a:r>
              <a:rPr sz="1500" b="0">
                <a:solidFill>
                  <a:srgbClr val="1C1C1A"/>
                </a:solidFill>
                <a:latin typeface="Helvetica Neue"/>
              </a:rPr>
              <a:t>•  What's the most annoying part of your money every month?</a:t>
            </a:r>
          </a:p>
          <a:p>
            <a:pPr algn="l">
              <a:lnSpc>
                <a:spcPct val="130000"/>
              </a:lnSpc>
              <a:spcBef>
                <a:spcPts val="400"/>
              </a:spcBef>
            </a:pPr>
            <a:r>
              <a:rPr sz="1500" b="0">
                <a:solidFill>
                  <a:srgbClr val="1C1C1A"/>
                </a:solidFill>
                <a:latin typeface="Helvetica Neue"/>
              </a:rPr>
              <a:t>•  If you could delete one tool you use today, which one?</a:t>
            </a:r>
          </a:p>
          <a:p>
            <a:pPr algn="l">
              <a:lnSpc>
                <a:spcPct val="130000"/>
              </a:lnSpc>
              <a:spcBef>
                <a:spcPts val="1600"/>
              </a:spcBef>
            </a:pPr>
            <a:r>
              <a:rPr sz="1400" b="1">
                <a:solidFill>
                  <a:srgbClr val="C9973A"/>
                </a:solidFill>
                <a:latin typeface="Helvetica Neue"/>
              </a:rPr>
              <a:t>Write their answers down during the call. They're worth more than the rest of the demo.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AUDIENCE: INVESTORS</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Closing for INVESTORS</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1500" b="1">
                <a:solidFill>
                  <a:srgbClr val="1A4D3B"/>
                </a:solidFill>
                <a:latin typeface="Helvetica Neue"/>
              </a:rPr>
              <a:t>The question they're already thinking:</a:t>
            </a:r>
          </a:p>
          <a:p>
            <a:pPr algn="l">
              <a:lnSpc>
                <a:spcPct val="130000"/>
              </a:lnSpc>
              <a:spcBef>
                <a:spcPts val="1000"/>
              </a:spcBef>
            </a:pPr>
            <a:r>
              <a:rPr sz="1600" b="1">
                <a:solidFill>
                  <a:srgbClr val="1C1C1A"/>
                </a:solidFill>
                <a:latin typeface="Helvetica Neue"/>
              </a:rPr>
              <a:t>“The obvious question is why Mint or QuickBooks doesn't just build this. They can. But it costs them their focus. If Monarch adds a P&amp;L, it makes their product worse for the 95% of users who have a normal paycheck. If QuickBooks adds personal net worth, it confuses the bookkeeper they sell to. Serving this customer means combining three worlds none of them wants to own all three of. That gap is our opening.”</a:t>
            </a:r>
          </a:p>
          <a:p>
            <a:pPr algn="l">
              <a:lnSpc>
                <a:spcPct val="130000"/>
              </a:lnSpc>
              <a:spcBef>
                <a:spcPts val="1600"/>
              </a:spcBef>
            </a:pPr>
            <a:r>
              <a:rPr sz="1500" b="1">
                <a:solidFill>
                  <a:srgbClr val="1A4D3B"/>
                </a:solidFill>
                <a:latin typeface="Helvetica Neue"/>
              </a:rPr>
              <a:t>Then the trajectory:</a:t>
            </a:r>
          </a:p>
          <a:p>
            <a:pPr algn="l">
              <a:lnSpc>
                <a:spcPct val="130000"/>
              </a:lnSpc>
              <a:spcBef>
                <a:spcPts val="1000"/>
              </a:spcBef>
            </a:pPr>
            <a:r>
              <a:rPr sz="1600" b="1">
                <a:solidFill>
                  <a:srgbClr val="1C1C1A"/>
                </a:solidFill>
                <a:latin typeface="Helvetica Neue"/>
              </a:rPr>
              <a:t>“Today it's a trusted dashboard. Next is advice. After that, a financial product — lending or advisory — sold to people whose complete financial picture only we can see. What I'm chasing isn't more features. It's 50 to 100 weekly active users in this niche.”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SCRIPT NOTES</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The close</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1500" b="0">
                <a:solidFill>
                  <a:srgbClr val="5A5F5B"/>
                </a:solidFill>
                <a:latin typeface="Helvetica Neue"/>
              </a:rPr>
              <a:t>Return to Home. Ending where you started closes the loop visually.</a:t>
            </a:r>
          </a:p>
          <a:p>
            <a:pPr algn="l">
              <a:lnSpc>
                <a:spcPct val="130000"/>
              </a:lnSpc>
              <a:spcBef>
                <a:spcPts val="1400"/>
              </a:spcBef>
            </a:pPr>
            <a:r>
              <a:rPr sz="1900" b="1">
                <a:solidFill>
                  <a:srgbClr val="1C1C1A"/>
                </a:solidFill>
                <a:latin typeface="Helvetica Neue"/>
              </a:rPr>
              <a:t>“So — one login. Her personal net worth. Her business, with a warning before cash runs out. Her properties. Her taxes, with the deductions she actually qualifies for. And one safe link to her accountant.</a:t>
            </a:r>
          </a:p>
          <a:p>
            <a:pPr algn="l">
              <a:lnSpc>
                <a:spcPct val="130000"/>
              </a:lnSpc>
              <a:spcBef>
                <a:spcPts val="1000"/>
              </a:spcBef>
            </a:pPr>
            <a:r>
              <a:rPr sz="1900" b="1">
                <a:solidFill>
                  <a:srgbClr val="1C1C1A"/>
                </a:solidFill>
                <a:latin typeface="Helvetica Neue"/>
              </a:rPr>
              <a:t>For millions of people whose money life is too complicated for a budgeting app — and too personal for accounting software.”</a:t>
            </a:r>
          </a:p>
          <a:p>
            <a:pPr algn="l">
              <a:lnSpc>
                <a:spcPct val="130000"/>
              </a:lnSpc>
              <a:spcBef>
                <a:spcPts val="1800"/>
              </a:spcBef>
            </a:pPr>
            <a:r>
              <a:rPr sz="1500" b="1">
                <a:solidFill>
                  <a:srgbClr val="C9973A"/>
                </a:solidFill>
                <a:latin typeface="Helvetica Neue"/>
              </a:rPr>
              <a:t>Then stop talking. Silence invites questions. Filling it undoes the ending.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Q&amp;A</a:t>
            </a:r>
          </a:p>
        </p:txBody>
      </p:sp>
      <p:sp>
        <p:nvSpPr>
          <p:cNvPr id="5" name="TextBox 4"/>
          <p:cNvSpPr txBox="1"/>
          <p:nvPr/>
        </p:nvSpPr>
        <p:spPr>
          <a:xfrm>
            <a:off x="822960" y="841248"/>
            <a:ext cx="10515600" cy="731520"/>
          </a:xfrm>
          <a:prstGeom prst="rect">
            <a:avLst/>
          </a:prstGeom>
          <a:noFill/>
        </p:spPr>
        <p:txBody>
          <a:bodyPr wrap="square" anchor="t" lIns="0" rIns="0" tIns="0" bIns="0">
            <a:spAutoFit/>
          </a:bodyPr>
          <a:lstStyle/>
          <a:p>
            <a:pPr algn="l">
              <a:lnSpc>
                <a:spcPct val="110000"/>
              </a:lnSpc>
            </a:pPr>
            <a:r>
              <a:rPr sz="3100" b="1">
                <a:solidFill>
                  <a:srgbClr val="1A4D3B"/>
                </a:solidFill>
                <a:latin typeface="Helvetica Neue"/>
              </a:rPr>
              <a:t>Questions you'll be asked</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22960" y="1874519"/>
          <a:ext cx="10515598" cy="2852928"/>
        </p:xfrm>
        <a:graphic>
          <a:graphicData uri="http://schemas.openxmlformats.org/drawingml/2006/table">
            <a:tbl>
              <a:tblPr firstRow="1" bandRow="1">
                <a:tableStyleId>{5C22544A-7EE6-4342-B048-85BDC9FD1C3A}</a:tableStyleId>
              </a:tblPr>
              <a:tblGrid>
                <a:gridCol w="2560319"/>
                <a:gridCol w="7955279"/>
              </a:tblGrid>
              <a:tr h="475488">
                <a:tc>
                  <a:txBody>
                    <a:bodyPr/>
                    <a:lstStyle/>
                    <a:p>
                      <a:r>
                        <a:rPr sz="1300" b="1">
                          <a:solidFill>
                            <a:srgbClr val="FFFFFF"/>
                          </a:solidFill>
                        </a:rPr>
                        <a:t>Question</a:t>
                      </a:r>
                    </a:p>
                  </a:txBody>
                  <a:tcPr anchor="ctr" marL="128016">
                    <a:solidFill>
                      <a:srgbClr val="1A4D3B"/>
                    </a:solidFill>
                  </a:tcPr>
                </a:tc>
                <a:tc>
                  <a:txBody>
                    <a:bodyPr/>
                    <a:lstStyle/>
                    <a:p>
                      <a:r>
                        <a:rPr sz="1300" b="1">
                          <a:solidFill>
                            <a:srgbClr val="FFFFFF"/>
                          </a:solidFill>
                        </a:rPr>
                        <a:t>Answer</a:t>
                      </a:r>
                    </a:p>
                  </a:txBody>
                  <a:tcPr anchor="ctr" marL="128016">
                    <a:solidFill>
                      <a:srgbClr val="1A4D3B"/>
                    </a:solidFill>
                  </a:tcPr>
                </a:tc>
              </a:tr>
              <a:tr h="475488">
                <a:tc>
                  <a:txBody>
                    <a:bodyPr/>
                    <a:lstStyle/>
                    <a:p>
                      <a:r>
                        <a:rPr sz="1200" b="1">
                          <a:solidFill>
                            <a:srgbClr val="1C1C1A"/>
                          </a:solidFill>
                        </a:rPr>
                        <a:t>“Isn't this just Mint?”</a:t>
                      </a:r>
                    </a:p>
                  </a:txBody>
                  <a:tcPr anchor="ctr" marL="128016">
                    <a:solidFill>
                      <a:srgbClr val="FFFFFF"/>
                    </a:solidFill>
                  </a:tcPr>
                </a:tc>
                <a:tc>
                  <a:txBody>
                    <a:bodyPr/>
                    <a:lstStyle/>
                    <a:p>
                      <a:r>
                        <a:rPr sz="1200" b="0">
                          <a:solidFill>
                            <a:srgbClr val="1C1C1A"/>
                          </a:solidFill>
                        </a:rPr>
                        <a:t>“Great product for someone with a paycheck — I'd lose that fight. I'm not in that market. They have no concept of a business entity, a P&amp;L, or rental depreciation. My user has all three.”</a:t>
                      </a:r>
                    </a:p>
                  </a:txBody>
                  <a:tcPr anchor="ctr" marL="128016">
                    <a:solidFill>
                      <a:srgbClr val="FFFFFF"/>
                    </a:solidFill>
                  </a:tcPr>
                </a:tc>
              </a:tr>
              <a:tr h="475488">
                <a:tc>
                  <a:txBody>
                    <a:bodyPr/>
                    <a:lstStyle/>
                    <a:p>
                      <a:r>
                        <a:rPr sz="1200" b="1">
                          <a:solidFill>
                            <a:srgbClr val="1C1C1A"/>
                          </a:solidFill>
                        </a:rPr>
                        <a:t>“What about QuickBooks?”</a:t>
                      </a:r>
                    </a:p>
                  </a:txBody>
                  <a:tcPr anchor="ctr" marL="128016">
                    <a:solidFill>
                      <a:srgbClr val="E4ECE6"/>
                    </a:solidFill>
                  </a:tcPr>
                </a:tc>
                <a:tc>
                  <a:txBody>
                    <a:bodyPr/>
                    <a:lstStyle/>
                    <a:p>
                      <a:r>
                        <a:rPr sz="1200" b="0">
                          <a:solidFill>
                            <a:srgbClr val="1C1C1A"/>
                          </a:solidFill>
                        </a:rPr>
                        <a:t>“It answers ‘how is the business doing?’ It has no idea what its user is worth. For someone whose personal and business finances are the same finances, that's half an answer.”</a:t>
                      </a:r>
                    </a:p>
                  </a:txBody>
                  <a:tcPr anchor="ctr" marL="128016">
                    <a:solidFill>
                      <a:srgbClr val="E4ECE6"/>
                    </a:solidFill>
                  </a:tcPr>
                </a:tc>
              </a:tr>
              <a:tr h="475488">
                <a:tc>
                  <a:txBody>
                    <a:bodyPr/>
                    <a:lstStyle/>
                    <a:p>
                      <a:r>
                        <a:rPr sz="1200" b="1">
                          <a:solidFill>
                            <a:srgbClr val="1C1C1A"/>
                          </a:solidFill>
                        </a:rPr>
                        <a:t>“How big is the market?”</a:t>
                      </a:r>
                    </a:p>
                  </a:txBody>
                  <a:tcPr anchor="ctr" marL="128016">
                    <a:solidFill>
                      <a:srgbClr val="FFFFFF"/>
                    </a:solidFill>
                  </a:tcPr>
                </a:tc>
                <a:tc>
                  <a:txBody>
                    <a:bodyPr/>
                    <a:lstStyle/>
                    <a:p>
                      <a:r>
                        <a:rPr sz="1200" b="0">
                          <a:solidFill>
                            <a:srgbClr val="1C1C1A"/>
                          </a:solidFill>
                        </a:rPr>
                        <a:t>“Tens of millions of self-employed Americans, a large share owning rental property. But I'm not making the case on market size — I'm making it on traction in the niche.”</a:t>
                      </a:r>
                    </a:p>
                  </a:txBody>
                  <a:tcPr anchor="ctr" marL="128016">
                    <a:solidFill>
                      <a:srgbClr val="FFFFFF"/>
                    </a:solidFill>
                  </a:tcPr>
                </a:tc>
              </a:tr>
              <a:tr h="475488">
                <a:tc>
                  <a:txBody>
                    <a:bodyPr/>
                    <a:lstStyle/>
                    <a:p>
                      <a:r>
                        <a:rPr sz="1200" b="1">
                          <a:solidFill>
                            <a:srgbClr val="1C1C1A"/>
                          </a:solidFill>
                        </a:rPr>
                        <a:t>“Do you have users?”</a:t>
                      </a:r>
                    </a:p>
                  </a:txBody>
                  <a:tcPr anchor="ctr" marL="128016">
                    <a:solidFill>
                      <a:srgbClr val="E4ECE6"/>
                    </a:solidFill>
                  </a:tcPr>
                </a:tc>
                <a:tc>
                  <a:txBody>
                    <a:bodyPr/>
                    <a:lstStyle/>
                    <a:p>
                      <a:r>
                        <a:rPr sz="1200" b="0">
                          <a:solidFill>
                            <a:srgbClr val="1C1C1A"/>
                          </a:solidFill>
                        </a:rPr>
                        <a:t>“Not yet at scale — the product went live recently. That's the next milestone. I'd rather give you the honest number than a vanity one.”</a:t>
                      </a:r>
                    </a:p>
                  </a:txBody>
                  <a:tcPr anchor="ctr" marL="128016">
                    <a:solidFill>
                      <a:srgbClr val="E4ECE6"/>
                    </a:solidFill>
                  </a:tcPr>
                </a:tc>
              </a:tr>
              <a:tr h="475488">
                <a:tc>
                  <a:txBody>
                    <a:bodyPr/>
                    <a:lstStyle/>
                    <a:p>
                      <a:r>
                        <a:rPr sz="1200" b="1">
                          <a:solidFill>
                            <a:srgbClr val="1C1C1A"/>
                          </a:solidFill>
                        </a:rPr>
                        <a:t>“What's the moat?”</a:t>
                      </a:r>
                    </a:p>
                  </a:txBody>
                  <a:tcPr anchor="ctr" marL="128016">
                    <a:solidFill>
                      <a:srgbClr val="FFFFFF"/>
                    </a:solidFill>
                  </a:tcPr>
                </a:tc>
                <a:tc>
                  <a:txBody>
                    <a:bodyPr/>
                    <a:lstStyle/>
                    <a:p>
                      <a:r>
                        <a:rPr sz="1200" b="0">
                          <a:solidFill>
                            <a:srgbClr val="1C1C1A"/>
                          </a:solidFill>
                        </a:rPr>
                        <a:t>“Focus near term, data medium term, and long term the financial product — lending against a picture only we can see.”</a:t>
                      </a:r>
                    </a:p>
                  </a:txBody>
                  <a:tcPr anchor="ctr" marL="128016">
                    <a:solidFill>
                      <a:srgbClr val="FFFF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Q&amp;A</a:t>
            </a:r>
          </a:p>
        </p:txBody>
      </p:sp>
      <p:sp>
        <p:nvSpPr>
          <p:cNvPr id="5" name="TextBox 4"/>
          <p:cNvSpPr txBox="1"/>
          <p:nvPr/>
        </p:nvSpPr>
        <p:spPr>
          <a:xfrm>
            <a:off x="822960" y="841248"/>
            <a:ext cx="10515600" cy="731520"/>
          </a:xfrm>
          <a:prstGeom prst="rect">
            <a:avLst/>
          </a:prstGeom>
          <a:noFill/>
        </p:spPr>
        <p:txBody>
          <a:bodyPr wrap="square" anchor="t" lIns="0" rIns="0" tIns="0" bIns="0">
            <a:spAutoFit/>
          </a:bodyPr>
          <a:lstStyle/>
          <a:p>
            <a:pPr algn="l">
              <a:lnSpc>
                <a:spcPct val="110000"/>
              </a:lnSpc>
            </a:pPr>
            <a:r>
              <a:rPr sz="3100" b="1">
                <a:solidFill>
                  <a:srgbClr val="1A4D3B"/>
                </a:solidFill>
                <a:latin typeface="Helvetica Neue"/>
              </a:rPr>
              <a:t>Harder questions</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22960" y="1874519"/>
          <a:ext cx="10515598" cy="2377440"/>
        </p:xfrm>
        <a:graphic>
          <a:graphicData uri="http://schemas.openxmlformats.org/drawingml/2006/table">
            <a:tbl>
              <a:tblPr firstRow="1" bandRow="1">
                <a:tableStyleId>{5C22544A-7EE6-4342-B048-85BDC9FD1C3A}</a:tableStyleId>
              </a:tblPr>
              <a:tblGrid>
                <a:gridCol w="2560319"/>
                <a:gridCol w="7955279"/>
              </a:tblGrid>
              <a:tr h="475488">
                <a:tc>
                  <a:txBody>
                    <a:bodyPr/>
                    <a:lstStyle/>
                    <a:p>
                      <a:r>
                        <a:rPr sz="1300" b="1">
                          <a:solidFill>
                            <a:srgbClr val="FFFFFF"/>
                          </a:solidFill>
                        </a:rPr>
                        <a:t>Question</a:t>
                      </a:r>
                    </a:p>
                  </a:txBody>
                  <a:tcPr anchor="ctr" marL="128016">
                    <a:solidFill>
                      <a:srgbClr val="1A4D3B"/>
                    </a:solidFill>
                  </a:tcPr>
                </a:tc>
                <a:tc>
                  <a:txBody>
                    <a:bodyPr/>
                    <a:lstStyle/>
                    <a:p>
                      <a:r>
                        <a:rPr sz="1300" b="1">
                          <a:solidFill>
                            <a:srgbClr val="FFFFFF"/>
                          </a:solidFill>
                        </a:rPr>
                        <a:t>Answer</a:t>
                      </a:r>
                    </a:p>
                  </a:txBody>
                  <a:tcPr anchor="ctr" marL="128016">
                    <a:solidFill>
                      <a:srgbClr val="1A4D3B"/>
                    </a:solidFill>
                  </a:tcPr>
                </a:tc>
              </a:tr>
              <a:tr h="475488">
                <a:tc>
                  <a:txBody>
                    <a:bodyPr/>
                    <a:lstStyle/>
                    <a:p>
                      <a:r>
                        <a:rPr sz="1200" b="1">
                          <a:solidFill>
                            <a:srgbClr val="1C1C1A"/>
                          </a:solidFill>
                        </a:rPr>
                        <a:t>“How do you handle security?”</a:t>
                      </a:r>
                    </a:p>
                  </a:txBody>
                  <a:tcPr anchor="ctr" marL="128016">
                    <a:solidFill>
                      <a:srgbClr val="FFFFFF"/>
                    </a:solidFill>
                  </a:tcPr>
                </a:tc>
                <a:tc>
                  <a:txBody>
                    <a:bodyPr/>
                    <a:lstStyle/>
                    <a:p>
                      <a:r>
                        <a:rPr sz="1200" b="0">
                          <a:solidFill>
                            <a:srgbClr val="1C1C1A"/>
                          </a:solidFill>
                        </a:rPr>
                        <a:t>“JWT enforced independently in every service. SSN/EIN encrypted, last-four only. Secrets in a KMS-backed store. Services refuse to boot on a weak secret. Every state change in a tamper-evident hash chain. Staff access fully separated from customer identity.”</a:t>
                      </a:r>
                    </a:p>
                  </a:txBody>
                  <a:tcPr anchor="ctr" marL="128016">
                    <a:solidFill>
                      <a:srgbClr val="FFFFFF"/>
                    </a:solidFill>
                  </a:tcPr>
                </a:tc>
              </a:tr>
              <a:tr h="475488">
                <a:tc>
                  <a:txBody>
                    <a:bodyPr/>
                    <a:lstStyle/>
                    <a:p>
                      <a:r>
                        <a:rPr sz="1200" b="1">
                          <a:solidFill>
                            <a:srgbClr val="1C1C1A"/>
                          </a:solidFill>
                        </a:rPr>
                        <a:t>“Are you SOC 2 compliant?”</a:t>
                      </a:r>
                    </a:p>
                  </a:txBody>
                  <a:tcPr anchor="ctr" marL="128016">
                    <a:solidFill>
                      <a:srgbClr val="E4ECE6"/>
                    </a:solidFill>
                  </a:tcPr>
                </a:tc>
                <a:tc>
                  <a:txBody>
                    <a:bodyPr/>
                    <a:lstStyle/>
                    <a:p>
                      <a:r>
                        <a:rPr sz="1200" b="0">
                          <a:solidFill>
                            <a:srgbClr val="1C1C1A"/>
                          </a:solidFill>
                        </a:rPr>
                        <a:t>“No formal certification — that's an audit with real cost, premature before revenue. But I built the primitives an audit asks for, because they're expensive to retrofit. It's a process to run, not an architecture to rebuild.”</a:t>
                      </a:r>
                    </a:p>
                  </a:txBody>
                  <a:tcPr anchor="ctr" marL="128016">
                    <a:solidFill>
                      <a:srgbClr val="E4ECE6"/>
                    </a:solidFill>
                  </a:tcPr>
                </a:tc>
              </a:tr>
              <a:tr h="475488">
                <a:tc>
                  <a:txBody>
                    <a:bodyPr/>
                    <a:lstStyle/>
                    <a:p>
                      <a:r>
                        <a:rPr sz="1200" b="1">
                          <a:solidFill>
                            <a:srgbClr val="1C1C1A"/>
                          </a:solidFill>
                        </a:rPr>
                        <a:t>“Why so many services?”</a:t>
                      </a:r>
                    </a:p>
                  </a:txBody>
                  <a:tcPr anchor="ctr" marL="128016">
                    <a:solidFill>
                      <a:srgbClr val="FFFFFF"/>
                    </a:solidFill>
                  </a:tcPr>
                </a:tc>
                <a:tc>
                  <a:txBody>
                    <a:bodyPr/>
                    <a:lstStyle/>
                    <a:p>
                      <a:r>
                        <a:rPr sz="1200" b="0">
                          <a:solidFill>
                            <a:srgbClr val="1C1C1A"/>
                          </a:solidFill>
                        </a:rPr>
                        <a:t>“Partly over-engineered, and I'll own that. Each domain has a different external dependency and compliance surface. The cost is operational overhead, which I control by running Compose on one VM rather than Kubernetes.”</a:t>
                      </a:r>
                    </a:p>
                  </a:txBody>
                  <a:tcPr anchor="ctr" marL="128016">
                    <a:solidFill>
                      <a:srgbClr val="FFFFFF"/>
                    </a:solidFill>
                  </a:tcPr>
                </a:tc>
              </a:tr>
              <a:tr h="475488">
                <a:tc>
                  <a:txBody>
                    <a:bodyPr/>
                    <a:lstStyle/>
                    <a:p>
                      <a:r>
                        <a:rPr sz="1200" b="1">
                          <a:solidFill>
                            <a:srgbClr val="1C1C1A"/>
                          </a:solidFill>
                        </a:rPr>
                        <a:t>“What's the biggest risk?”</a:t>
                      </a:r>
                    </a:p>
                  </a:txBody>
                  <a:tcPr anchor="ctr" marL="128016">
                    <a:solidFill>
                      <a:srgbClr val="E4ECE6"/>
                    </a:solidFill>
                  </a:tcPr>
                </a:tc>
                <a:tc>
                  <a:txBody>
                    <a:bodyPr/>
                    <a:lstStyle/>
                    <a:p>
                      <a:r>
                        <a:rPr sz="1200" b="0">
                          <a:solidFill>
                            <a:srgbClr val="1C1C1A"/>
                          </a:solidFill>
                        </a:rPr>
                        <a:t>“Distribution, not product. I've built something this customer needs. I haven't yet proven I can reach them efficiently. That's why the milestone is weekly actives.”</a:t>
                      </a:r>
                    </a:p>
                  </a:txBody>
                  <a:tcPr anchor="ctr" marL="128016">
                    <a:solidFill>
                      <a:srgbClr val="E4ECE6"/>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SCRIPT NOTES</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Lines worth memorizing</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1900" b="1">
                <a:solidFill>
                  <a:srgbClr val="1A4D3B"/>
                </a:solidFill>
                <a:latin typeface="Helvetica Neue"/>
              </a:rPr>
              <a:t>“All your wealth, one place — personal, business, and property.”</a:t>
            </a:r>
          </a:p>
          <a:p>
            <a:pPr algn="l">
              <a:lnSpc>
                <a:spcPct val="130000"/>
              </a:lnSpc>
              <a:spcBef>
                <a:spcPts val="1400"/>
              </a:spcBef>
            </a:pPr>
            <a:r>
              <a:rPr sz="1900" b="1">
                <a:solidFill>
                  <a:srgbClr val="1A4D3B"/>
                </a:solidFill>
                <a:latin typeface="Helvetica Neue"/>
              </a:rPr>
              <a:t>“Every money app assumes your finances are simple. If you work for yourself, they never are.”</a:t>
            </a:r>
          </a:p>
          <a:p>
            <a:pPr algn="l">
              <a:lnSpc>
                <a:spcPct val="130000"/>
              </a:lnSpc>
              <a:spcBef>
                <a:spcPts val="1400"/>
              </a:spcBef>
            </a:pPr>
            <a:r>
              <a:rPr sz="1900" b="1">
                <a:solidFill>
                  <a:srgbClr val="1A4D3B"/>
                </a:solidFill>
                <a:latin typeface="Helvetica Neue"/>
              </a:rPr>
              <a:t>“Mint doesn't know you own a business. QuickBooks doesn't know you own a house. Nobody knows you own both.”</a:t>
            </a:r>
          </a:p>
          <a:p>
            <a:pPr algn="l">
              <a:lnSpc>
                <a:spcPct val="130000"/>
              </a:lnSpc>
              <a:spcBef>
                <a:spcPts val="1400"/>
              </a:spcBef>
            </a:pPr>
            <a:r>
              <a:rPr sz="1900" b="1">
                <a:solidFill>
                  <a:srgbClr val="1A4D3B"/>
                </a:solidFill>
                <a:latin typeface="Helvetica Neue"/>
              </a:rPr>
              <a:t>“It warns you about a cash problem while you can still fix it. That's the difference between a dashboard and a decision.”</a:t>
            </a:r>
          </a:p>
          <a:p>
            <a:pPr algn="l">
              <a:lnSpc>
                <a:spcPct val="130000"/>
              </a:lnSpc>
              <a:spcBef>
                <a:spcPts val="1400"/>
              </a:spcBef>
            </a:pPr>
            <a:r>
              <a:rPr sz="1900" b="1">
                <a:solidFill>
                  <a:srgbClr val="1A4D3B"/>
                </a:solidFill>
                <a:latin typeface="Helvetica Neue"/>
              </a:rPr>
              <a:t>“This is the difference between an app that watches your money and an app that understands it.”</a:t>
            </a:r>
          </a:p>
          <a:p>
            <a:pPr algn="l">
              <a:lnSpc>
                <a:spcPct val="130000"/>
              </a:lnSpc>
              <a:spcBef>
                <a:spcPts val="1400"/>
              </a:spcBef>
            </a:pPr>
            <a:r>
              <a:rPr sz="1900" b="1">
                <a:solidFill>
                  <a:srgbClr val="1A4D3B"/>
                </a:solidFill>
                <a:latin typeface="Helvetica Neue"/>
              </a:rPr>
              <a:t>“Too complicated for a budgeting app — too personal for accounting software.”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1828800" cy="1097280"/>
          </a:xfrm>
          <a:prstGeom prst="rect">
            <a:avLst/>
          </a:prstGeom>
          <a:noFill/>
        </p:spPr>
        <p:txBody>
          <a:bodyPr wrap="square" anchor="t" lIns="0" rIns="0" tIns="0" bIns="0">
            <a:spAutoFit/>
          </a:bodyPr>
          <a:lstStyle/>
          <a:p>
            <a:pPr algn="l">
              <a:lnSpc>
                <a:spcPct val="100000"/>
              </a:lnSpc>
            </a:pPr>
            <a:r>
              <a:rPr sz="8200" b="1">
                <a:solidFill>
                  <a:srgbClr val="3E7E64"/>
                </a:solidFill>
                <a:latin typeface="Helvetica Neue"/>
              </a:rPr>
              <a:t>04</a:t>
            </a:r>
          </a:p>
        </p:txBody>
      </p:sp>
      <p:sp>
        <p:nvSpPr>
          <p:cNvPr id="5" name="TextBox 4"/>
          <p:cNvSpPr txBox="1"/>
          <p:nvPr/>
        </p:nvSpPr>
        <p:spPr>
          <a:xfrm>
            <a:off x="1051560" y="3063240"/>
            <a:ext cx="9509760" cy="1097280"/>
          </a:xfrm>
          <a:prstGeom prst="rect">
            <a:avLst/>
          </a:prstGeom>
          <a:noFill/>
        </p:spPr>
        <p:txBody>
          <a:bodyPr wrap="square" anchor="t" lIns="0" rIns="0" tIns="0" bIns="0">
            <a:spAutoFit/>
          </a:bodyPr>
          <a:lstStyle/>
          <a:p>
            <a:pPr algn="l">
              <a:lnSpc>
                <a:spcPct val="108000"/>
              </a:lnSpc>
            </a:pPr>
            <a:r>
              <a:rPr sz="4400" b="1">
                <a:solidFill>
                  <a:srgbClr val="FFFFFF"/>
                </a:solidFill>
                <a:latin typeface="Helvetica Neue"/>
              </a:rPr>
              <a:t>Running the Demo Well</a:t>
            </a:r>
          </a:p>
        </p:txBody>
      </p:sp>
      <p:sp>
        <p:nvSpPr>
          <p:cNvPr id="6" name="Rectangle 5"/>
          <p:cNvSpPr/>
          <p:nvPr/>
        </p:nvSpPr>
        <p:spPr>
          <a:xfrm>
            <a:off x="1051560" y="4160520"/>
            <a:ext cx="137160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480560"/>
            <a:ext cx="8686800" cy="914400"/>
          </a:xfrm>
          <a:prstGeom prst="rect">
            <a:avLst/>
          </a:prstGeom>
          <a:noFill/>
        </p:spPr>
        <p:txBody>
          <a:bodyPr wrap="square" anchor="t" lIns="0" rIns="0" tIns="0" bIns="0">
            <a:spAutoFit/>
          </a:bodyPr>
          <a:lstStyle/>
          <a:p>
            <a:pPr algn="l">
              <a:lnSpc>
                <a:spcPct val="135000"/>
              </a:lnSpc>
            </a:pPr>
            <a:r>
              <a:rPr sz="1800" b="0">
                <a:solidFill>
                  <a:srgbClr val="E4ECE6"/>
                </a:solidFill>
                <a:latin typeface="Helvetica Neue"/>
              </a:rPr>
              <a:t>Six things that will help more than rehearsing feature 37.</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PREPARATION</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Setup that protects you</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2000" b="1">
                <a:solidFill>
                  <a:srgbClr val="1A4D3B"/>
                </a:solidFill>
                <a:latin typeface="Helvetica Neue"/>
              </a:rPr>
              <a:t>Use two screens</a:t>
            </a:r>
          </a:p>
          <a:p>
            <a:pPr algn="l">
              <a:lnSpc>
                <a:spcPct val="130000"/>
              </a:lnSpc>
              <a:spcBef>
                <a:spcPts val="400"/>
              </a:spcBef>
            </a:pPr>
            <a:r>
              <a:rPr sz="1500" b="0">
                <a:solidFill>
                  <a:srgbClr val="1C1C1A"/>
                </a:solidFill>
                <a:latin typeface="Helvetica Neue"/>
              </a:rPr>
              <a:t>Share only the app window; keep this deck in presenter view on the other. Never scroll a script in a shared window — it instantly reveals you're reading.</a:t>
            </a:r>
          </a:p>
          <a:p>
            <a:pPr algn="l">
              <a:lnSpc>
                <a:spcPct val="130000"/>
              </a:lnSpc>
              <a:spcBef>
                <a:spcPts val="1600"/>
              </a:spcBef>
            </a:pPr>
            <a:r>
              <a:rPr sz="2000" b="1">
                <a:solidFill>
                  <a:srgbClr val="1A4D3B"/>
                </a:solidFill>
                <a:latin typeface="Helvetica Neue"/>
              </a:rPr>
              <a:t>Record a backup video</a:t>
            </a:r>
          </a:p>
          <a:p>
            <a:pPr algn="l">
              <a:lnSpc>
                <a:spcPct val="130000"/>
              </a:lnSpc>
              <a:spcBef>
                <a:spcPts val="400"/>
              </a:spcBef>
            </a:pPr>
            <a:r>
              <a:rPr sz="1500" b="0">
                <a:solidFill>
                  <a:srgbClr val="1C1C1A"/>
                </a:solidFill>
                <a:latin typeface="Helvetica Neue"/>
              </a:rPr>
              <a:t>Record the full walkthrough once, cleanly, and keep it in a background tab. If the site is slow or Wi-Fi drops: “let me show you the recorded version while that loads.” Demos are lost in dead air, not to bugs.</a:t>
            </a:r>
          </a:p>
          <a:p>
            <a:pPr algn="l">
              <a:lnSpc>
                <a:spcPct val="130000"/>
              </a:lnSpc>
              <a:spcBef>
                <a:spcPts val="1600"/>
              </a:spcBef>
            </a:pPr>
            <a:r>
              <a:rPr sz="2000" b="1">
                <a:solidFill>
                  <a:srgbClr val="1A4D3B"/>
                </a:solidFill>
                <a:latin typeface="Helvetica Neue"/>
              </a:rPr>
              <a:t>Rehearse three moments, not forty-six</a:t>
            </a:r>
          </a:p>
          <a:p>
            <a:pPr algn="l">
              <a:lnSpc>
                <a:spcPct val="130000"/>
              </a:lnSpc>
              <a:spcBef>
                <a:spcPts val="400"/>
              </a:spcBef>
            </a:pPr>
            <a:r>
              <a:rPr sz="1500" b="0">
                <a:solidFill>
                  <a:srgbClr val="1C1C1A"/>
                </a:solidFill>
                <a:latin typeface="Helvetica Neue"/>
              </a:rPr>
              <a:t>Features 12, 30 and 34 — twice, out loud. Everything else you can narrate naturally from the app in front of you.</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PREPARATION</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  Seed the demo account — and check the feature gate</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1500" b="0">
                <a:solidFill>
                  <a:srgbClr val="5A5F5B"/>
                </a:solidFill>
                <a:latin typeface="Helvetica Neue"/>
              </a:rPr>
              <a:t>Several of your best features have nothing to show without data:</a:t>
            </a:r>
          </a:p>
          <a:p>
            <a:pPr algn="l">
              <a:lnSpc>
                <a:spcPct val="130000"/>
              </a:lnSpc>
              <a:spcBef>
                <a:spcPts val="1000"/>
              </a:spcBef>
            </a:pPr>
            <a:r>
              <a:rPr sz="1500" b="0">
                <a:solidFill>
                  <a:srgbClr val="1C1C1A"/>
                </a:solidFill>
                <a:latin typeface="Helvetica Neue"/>
              </a:rPr>
              <a:t>•  Feature 12 cash forecast — needs transaction history to project</a:t>
            </a:r>
          </a:p>
          <a:p>
            <a:pPr algn="l">
              <a:lnSpc>
                <a:spcPct val="130000"/>
              </a:lnSpc>
              <a:spcBef>
                <a:spcPts val="400"/>
              </a:spcBef>
            </a:pPr>
            <a:r>
              <a:rPr sz="1500" b="0">
                <a:solidFill>
                  <a:srgbClr val="1C1C1A"/>
                </a:solidFill>
                <a:latin typeface="Helvetica Neue"/>
              </a:rPr>
              <a:t>•  Feature 13 AR aging — needs genuinely overdue invoices</a:t>
            </a:r>
          </a:p>
          <a:p>
            <a:pPr algn="l">
              <a:lnSpc>
                <a:spcPct val="130000"/>
              </a:lnSpc>
              <a:spcBef>
                <a:spcPts val="400"/>
              </a:spcBef>
            </a:pPr>
            <a:r>
              <a:rPr sz="1500" b="0">
                <a:solidFill>
                  <a:srgbClr val="1C1C1A"/>
                </a:solidFill>
                <a:latin typeface="Helvetica Neue"/>
              </a:rPr>
              <a:t>•  Feature 14 bulk remind — needs multiple overdue invoices</a:t>
            </a:r>
          </a:p>
          <a:p>
            <a:pPr algn="l">
              <a:lnSpc>
                <a:spcPct val="130000"/>
              </a:lnSpc>
              <a:spcBef>
                <a:spcPts val="400"/>
              </a:spcBef>
            </a:pPr>
            <a:r>
              <a:rPr sz="1500" b="0">
                <a:solidFill>
                  <a:srgbClr val="1C1C1A"/>
                </a:solidFill>
                <a:latin typeface="Helvetica Neue"/>
              </a:rPr>
              <a:t>•  Feature 20 vendors — needs recurring vendor payments</a:t>
            </a:r>
          </a:p>
          <a:p>
            <a:pPr algn="l">
              <a:lnSpc>
                <a:spcPct val="130000"/>
              </a:lnSpc>
              <a:spcBef>
                <a:spcPts val="400"/>
              </a:spcBef>
            </a:pPr>
            <a:r>
              <a:rPr sz="1500" b="0">
                <a:solidFill>
                  <a:srgbClr val="1C1C1A"/>
                </a:solidFill>
                <a:latin typeface="Helvetica Neue"/>
              </a:rPr>
              <a:t>•  Feature 26 property expenses — needs a year of dated expenses</a:t>
            </a:r>
          </a:p>
          <a:p>
            <a:pPr algn="l">
              <a:lnSpc>
                <a:spcPct val="130000"/>
              </a:lnSpc>
              <a:spcBef>
                <a:spcPts val="400"/>
              </a:spcBef>
            </a:pPr>
            <a:r>
              <a:rPr sz="1500" b="0">
                <a:solidFill>
                  <a:srgbClr val="1C1C1A"/>
                </a:solidFill>
                <a:latin typeface="Helvetica Neue"/>
              </a:rPr>
              <a:t>•  Features 29–31 tax — needs income, W-2 and rental figures</a:t>
            </a:r>
          </a:p>
          <a:p>
            <a:pPr algn="l">
              <a:lnSpc>
                <a:spcPct val="130000"/>
              </a:lnSpc>
              <a:spcBef>
                <a:spcPts val="1800"/>
              </a:spcBef>
            </a:pPr>
            <a:r>
              <a:rPr sz="1600" b="1">
                <a:solidFill>
                  <a:srgbClr val="C9973A"/>
                </a:solidFill>
                <a:latin typeface="Helvetica Neue"/>
              </a:rPr>
              <a:t>CRITICAL: My Business, Deal Room and Fractional LLC sit behind a feature gate. On the wrong plan or an expired trial, your flagship screen renders an UPGRADE PROMPT instead of the product. Log in the day before and confirm all three.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PREPARATION</a:t>
            </a:r>
          </a:p>
        </p:txBody>
      </p:sp>
      <p:sp>
        <p:nvSpPr>
          <p:cNvPr id="5" name="TextBox 4"/>
          <p:cNvSpPr txBox="1"/>
          <p:nvPr/>
        </p:nvSpPr>
        <p:spPr>
          <a:xfrm>
            <a:off x="822960" y="914400"/>
            <a:ext cx="10515600" cy="914400"/>
          </a:xfrm>
          <a:prstGeom prst="rect">
            <a:avLst/>
          </a:prstGeom>
          <a:noFill/>
        </p:spPr>
        <p:txBody>
          <a:bodyPr wrap="square" anchor="t" lIns="0" rIns="0" tIns="0" bIns="0">
            <a:spAutoFit/>
          </a:bodyPr>
          <a:lstStyle/>
          <a:p>
            <a:pPr algn="l">
              <a:lnSpc>
                <a:spcPct val="110000"/>
              </a:lnSpc>
            </a:pPr>
            <a:r>
              <a:rPr sz="3300" b="1">
                <a:solidFill>
                  <a:srgbClr val="1A4D3B"/>
                </a:solidFill>
                <a:latin typeface="Helvetica Neue"/>
              </a:rPr>
              <a:t>Demo hygiene</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20"/>
            <a:ext cx="10515600" cy="4480560"/>
          </a:xfrm>
          <a:prstGeom prst="rect">
            <a:avLst/>
          </a:prstGeom>
          <a:noFill/>
        </p:spPr>
        <p:txBody>
          <a:bodyPr wrap="square" anchor="t" lIns="0" rIns="0" tIns="0" bIns="0">
            <a:spAutoFit/>
          </a:bodyPr>
          <a:lstStyle/>
          <a:p>
            <a:pPr algn="l">
              <a:lnSpc>
                <a:spcPct val="130000"/>
              </a:lnSpc>
            </a:pPr>
            <a:r>
              <a:rPr sz="1500" b="0">
                <a:solidFill>
                  <a:srgbClr val="1C1C1A"/>
                </a:solidFill>
                <a:latin typeface="Helvetica Neue"/>
              </a:rPr>
              <a:t>•  Log in before the call and leave the tab open — never demo through a login or an OTP code.</a:t>
            </a:r>
          </a:p>
          <a:p>
            <a:pPr algn="l">
              <a:lnSpc>
                <a:spcPct val="130000"/>
              </a:lnSpc>
              <a:spcBef>
                <a:spcPts val="800"/>
              </a:spcBef>
            </a:pPr>
            <a:r>
              <a:rPr sz="1500" b="0">
                <a:solidFill>
                  <a:srgbClr val="1C1C1A"/>
                </a:solidFill>
                <a:latin typeface="Helvetica Neue"/>
              </a:rPr>
              <a:t>•  Hard-refresh (Cmd+Shift+R). This is a PWA; a stale cached bundle can load.</a:t>
            </a:r>
          </a:p>
          <a:p>
            <a:pPr algn="l">
              <a:lnSpc>
                <a:spcPct val="130000"/>
              </a:lnSpc>
              <a:spcBef>
                <a:spcPts val="800"/>
              </a:spcBef>
            </a:pPr>
            <a:r>
              <a:rPr sz="1500" b="0">
                <a:solidFill>
                  <a:srgbClr val="1C1C1A"/>
                </a:solidFill>
                <a:latin typeface="Helvetica Neue"/>
              </a:rPr>
              <a:t>•  Close every other tab. Turn off system and browser notifications.</a:t>
            </a:r>
          </a:p>
          <a:p>
            <a:pPr algn="l">
              <a:lnSpc>
                <a:spcPct val="130000"/>
              </a:lnSpc>
              <a:spcBef>
                <a:spcPts val="800"/>
              </a:spcBef>
            </a:pPr>
            <a:r>
              <a:rPr sz="1500" b="0">
                <a:solidFill>
                  <a:srgbClr val="1C1C1A"/>
                </a:solidFill>
                <a:latin typeface="Helvetica Neue"/>
              </a:rPr>
              <a:t>•  Zoom the browser to ~110% — financial tables are unreadable shrunk down.</a:t>
            </a:r>
          </a:p>
          <a:p>
            <a:pPr algn="l">
              <a:lnSpc>
                <a:spcPct val="130000"/>
              </a:lnSpc>
              <a:spcBef>
                <a:spcPts val="800"/>
              </a:spcBef>
            </a:pPr>
            <a:r>
              <a:rPr sz="1500" b="0">
                <a:solidFill>
                  <a:srgbClr val="1C1C1A"/>
                </a:solidFill>
                <a:latin typeface="Helvetica Neue"/>
              </a:rPr>
              <a:t>•  Pre-open your closing tab (Subscription for investors).</a:t>
            </a:r>
          </a:p>
          <a:p>
            <a:pPr algn="l">
              <a:lnSpc>
                <a:spcPct val="130000"/>
              </a:lnSpc>
              <a:spcBef>
                <a:spcPts val="800"/>
              </a:spcBef>
            </a:pPr>
            <a:r>
              <a:rPr sz="1500" b="0">
                <a:solidFill>
                  <a:srgbClr val="1C1C1A"/>
                </a:solidFill>
                <a:latin typeface="Helvetica Neue"/>
              </a:rPr>
              <a:t>•  Click the whole path once the day before, so nothing surprises you live.</a:t>
            </a:r>
          </a:p>
          <a:p>
            <a:pPr algn="l">
              <a:lnSpc>
                <a:spcPct val="130000"/>
              </a:lnSpc>
              <a:spcBef>
                <a:spcPts val="800"/>
              </a:spcBef>
            </a:pPr>
            <a:r>
              <a:rPr sz="1500" b="0">
                <a:solidFill>
                  <a:srgbClr val="1C1C1A"/>
                </a:solidFill>
                <a:latin typeface="Helvetica Neue"/>
              </a:rPr>
              <a:t>•  Have a second browser profile ready for the public invoice page and the CPA share link — showing the recipient's view is far more convincing than describing it.</a:t>
            </a:r>
          </a:p>
          <a:p>
            <a:pPr algn="l">
              <a:lnSpc>
                <a:spcPct val="130000"/>
              </a:lnSpc>
              <a:spcBef>
                <a:spcPts val="1600"/>
              </a:spcBef>
            </a:pPr>
            <a:r>
              <a:rPr sz="1400" b="1">
                <a:solidFill>
                  <a:srgbClr val="1A4D3B"/>
                </a:solidFill>
                <a:latin typeface="Helvetica Neue"/>
              </a:rPr>
              <a:t>Handling questions mid-demo: “Great question — that's actually the next screen.” Or park it, note it, and genuinely return before you close.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A4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10515600" cy="320040"/>
          </a:xfrm>
          <a:prstGeom prst="rect">
            <a:avLst/>
          </a:prstGeom>
          <a:noFill/>
        </p:spPr>
        <p:txBody>
          <a:bodyPr wrap="square" anchor="t" lIns="0" rIns="0" tIns="0" bIns="0">
            <a:spAutoFit/>
          </a:bodyPr>
          <a:lstStyle/>
          <a:p>
            <a:pPr algn="l">
              <a:lnSpc>
                <a:spcPct val="125000"/>
              </a:lnSpc>
            </a:pPr>
            <a:r>
              <a:rPr sz="1200" b="1">
                <a:solidFill>
                  <a:srgbClr val="C9973A"/>
                </a:solidFill>
                <a:latin typeface="Helvetica Neue"/>
              </a:rPr>
              <a:t>OPEN ITEMS</a:t>
            </a:r>
          </a:p>
        </p:txBody>
      </p:sp>
      <p:sp>
        <p:nvSpPr>
          <p:cNvPr id="5" name="TextBox 4"/>
          <p:cNvSpPr txBox="1"/>
          <p:nvPr/>
        </p:nvSpPr>
        <p:spPr>
          <a:xfrm>
            <a:off x="822960" y="841248"/>
            <a:ext cx="10515600" cy="731520"/>
          </a:xfrm>
          <a:prstGeom prst="rect">
            <a:avLst/>
          </a:prstGeom>
          <a:noFill/>
        </p:spPr>
        <p:txBody>
          <a:bodyPr wrap="square" anchor="t" lIns="0" rIns="0" tIns="0" bIns="0">
            <a:spAutoFit/>
          </a:bodyPr>
          <a:lstStyle/>
          <a:p>
            <a:pPr algn="l">
              <a:lnSpc>
                <a:spcPct val="110000"/>
              </a:lnSpc>
            </a:pPr>
            <a:r>
              <a:rPr sz="3100" b="1">
                <a:solidFill>
                  <a:srgbClr val="1A4D3B"/>
                </a:solidFill>
                <a:latin typeface="Helvetica Neue"/>
              </a:rPr>
              <a:t>Still to fill in</a:t>
            </a:r>
          </a:p>
        </p:txBody>
      </p:sp>
      <p:sp>
        <p:nvSpPr>
          <p:cNvPr id="6" name="Rectangle 5"/>
          <p:cNvSpPr/>
          <p:nvPr/>
        </p:nvSpPr>
        <p:spPr>
          <a:xfrm>
            <a:off x="822960" y="1572768"/>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22960" y="1874519"/>
          <a:ext cx="10515600" cy="4389120"/>
        </p:xfrm>
        <a:graphic>
          <a:graphicData uri="http://schemas.openxmlformats.org/drawingml/2006/table">
            <a:tbl>
              <a:tblPr firstRow="1" bandRow="1">
                <a:tableStyleId>{5C22544A-7EE6-4342-B048-85BDC9FD1C3A}</a:tableStyleId>
              </a:tblPr>
              <a:tblGrid>
                <a:gridCol w="731520"/>
                <a:gridCol w="2377440"/>
                <a:gridCol w="7406640"/>
              </a:tblGrid>
              <a:tr h="438912">
                <a:tc>
                  <a:txBody>
                    <a:bodyPr/>
                    <a:lstStyle/>
                    <a:p>
                      <a:r>
                        <a:rPr sz="1300" b="1">
                          <a:solidFill>
                            <a:srgbClr val="FFFFFF"/>
                          </a:solidFill>
                        </a:rPr>
                        <a:t>#</a:t>
                      </a:r>
                    </a:p>
                  </a:txBody>
                  <a:tcPr anchor="ctr" marL="128016">
                    <a:solidFill>
                      <a:srgbClr val="1A4D3B"/>
                    </a:solidFill>
                  </a:tcPr>
                </a:tc>
                <a:tc>
                  <a:txBody>
                    <a:bodyPr/>
                    <a:lstStyle/>
                    <a:p>
                      <a:r>
                        <a:rPr sz="1300" b="1">
                          <a:solidFill>
                            <a:srgbClr val="FFFFFF"/>
                          </a:solidFill>
                        </a:rPr>
                        <a:t>Feature</a:t>
                      </a:r>
                    </a:p>
                  </a:txBody>
                  <a:tcPr anchor="ctr" marL="128016">
                    <a:solidFill>
                      <a:srgbClr val="1A4D3B"/>
                    </a:solidFill>
                  </a:tcPr>
                </a:tc>
                <a:tc>
                  <a:txBody>
                    <a:bodyPr/>
                    <a:lstStyle/>
                    <a:p>
                      <a:r>
                        <a:rPr sz="1300" b="1">
                          <a:solidFill>
                            <a:srgbClr val="FFFFFF"/>
                          </a:solidFill>
                        </a:rPr>
                        <a:t>What's needed</a:t>
                      </a:r>
                    </a:p>
                  </a:txBody>
                  <a:tcPr anchor="ctr" marL="128016">
                    <a:solidFill>
                      <a:srgbClr val="1A4D3B"/>
                    </a:solidFill>
                  </a:tcPr>
                </a:tc>
              </a:tr>
              <a:tr h="438912">
                <a:tc>
                  <a:txBody>
                    <a:bodyPr/>
                    <a:lstStyle/>
                    <a:p>
                      <a:r>
                        <a:rPr sz="1200" b="1">
                          <a:solidFill>
                            <a:srgbClr val="1C1C1A"/>
                          </a:solidFill>
                        </a:rPr>
                        <a:t>8</a:t>
                      </a:r>
                    </a:p>
                  </a:txBody>
                  <a:tcPr anchor="ctr" marL="128016">
                    <a:solidFill>
                      <a:srgbClr val="FFFFFF"/>
                    </a:solidFill>
                  </a:tcPr>
                </a:tc>
                <a:tc>
                  <a:txBody>
                    <a:bodyPr/>
                    <a:lstStyle/>
                    <a:p>
                      <a:r>
                        <a:rPr sz="1200" b="0">
                          <a:solidFill>
                            <a:srgbClr val="1C1C1A"/>
                          </a:solidFill>
                        </a:rPr>
                        <a:t>Investments</a:t>
                      </a:r>
                    </a:p>
                  </a:txBody>
                  <a:tcPr anchor="ctr" marL="128016">
                    <a:solidFill>
                      <a:srgbClr val="FFFFFF"/>
                    </a:solidFill>
                  </a:tcPr>
                </a:tc>
                <a:tc>
                  <a:txBody>
                    <a:bodyPr/>
                    <a:lstStyle/>
                    <a:p>
                      <a:r>
                        <a:rPr sz="1200" b="0">
                          <a:solidFill>
                            <a:srgbClr val="1C1C1A"/>
                          </a:solidFill>
                        </a:rPr>
                        <a:t>Confirm Alternatives add-flow; is Marketplace demo-ready?</a:t>
                      </a:r>
                    </a:p>
                  </a:txBody>
                  <a:tcPr anchor="ctr" marL="128016">
                    <a:solidFill>
                      <a:srgbClr val="FFFFFF"/>
                    </a:solidFill>
                  </a:tcPr>
                </a:tc>
              </a:tr>
              <a:tr h="438912">
                <a:tc>
                  <a:txBody>
                    <a:bodyPr/>
                    <a:lstStyle/>
                    <a:p>
                      <a:r>
                        <a:rPr sz="1200" b="1">
                          <a:solidFill>
                            <a:srgbClr val="1C1C1A"/>
                          </a:solidFill>
                        </a:rPr>
                        <a:t>9</a:t>
                      </a:r>
                    </a:p>
                  </a:txBody>
                  <a:tcPr anchor="ctr" marL="128016">
                    <a:solidFill>
                      <a:srgbClr val="E4ECE6"/>
                    </a:solidFill>
                  </a:tcPr>
                </a:tc>
                <a:tc>
                  <a:txBody>
                    <a:bodyPr/>
                    <a:lstStyle/>
                    <a:p>
                      <a:r>
                        <a:rPr sz="1200" b="0">
                          <a:solidFill>
                            <a:srgbClr val="1C1C1A"/>
                          </a:solidFill>
                        </a:rPr>
                        <a:t>Cash Position</a:t>
                      </a:r>
                    </a:p>
                  </a:txBody>
                  <a:tcPr anchor="ctr" marL="128016">
                    <a:solidFill>
                      <a:srgbClr val="E4ECE6"/>
                    </a:solidFill>
                  </a:tcPr>
                </a:tc>
                <a:tc>
                  <a:txBody>
                    <a:bodyPr/>
                    <a:lstStyle/>
                    <a:p>
                      <a:r>
                        <a:rPr sz="1200" b="0">
                          <a:solidFill>
                            <a:srgbClr val="1C1C1A"/>
                          </a:solidFill>
                        </a:rPr>
                        <a:t>Confirm layout — do card balances live here?</a:t>
                      </a:r>
                    </a:p>
                  </a:txBody>
                  <a:tcPr anchor="ctr" marL="128016">
                    <a:solidFill>
                      <a:srgbClr val="E4ECE6"/>
                    </a:solidFill>
                  </a:tcPr>
                </a:tc>
              </a:tr>
              <a:tr h="438912">
                <a:tc>
                  <a:txBody>
                    <a:bodyPr/>
                    <a:lstStyle/>
                    <a:p>
                      <a:r>
                        <a:rPr sz="1200" b="1">
                          <a:solidFill>
                            <a:srgbClr val="1C1C1A"/>
                          </a:solidFill>
                        </a:rPr>
                        <a:t>17</a:t>
                      </a:r>
                    </a:p>
                  </a:txBody>
                  <a:tcPr anchor="ctr" marL="128016">
                    <a:solidFill>
                      <a:srgbClr val="FFFFFF"/>
                    </a:solidFill>
                  </a:tcPr>
                </a:tc>
                <a:tc>
                  <a:txBody>
                    <a:bodyPr/>
                    <a:lstStyle/>
                    <a:p>
                      <a:r>
                        <a:rPr sz="1200" b="0">
                          <a:solidFill>
                            <a:srgbClr val="1C1C1A"/>
                          </a:solidFill>
                        </a:rPr>
                        <a:t>Credit Cards</a:t>
                      </a:r>
                    </a:p>
                  </a:txBody>
                  <a:tcPr anchor="ctr" marL="128016">
                    <a:solidFill>
                      <a:srgbClr val="FFFFFF"/>
                    </a:solidFill>
                  </a:tcPr>
                </a:tc>
                <a:tc>
                  <a:txBody>
                    <a:bodyPr/>
                    <a:lstStyle/>
                    <a:p>
                      <a:r>
                        <a:rPr sz="1200" b="0">
                          <a:solidFill>
                            <a:srgbClr val="1C1C1A"/>
                          </a:solidFill>
                        </a:rPr>
                        <a:t>Manual entry or pulled from linked accounts?</a:t>
                      </a:r>
                    </a:p>
                  </a:txBody>
                  <a:tcPr anchor="ctr" marL="128016">
                    <a:solidFill>
                      <a:srgbClr val="FFFFFF"/>
                    </a:solidFill>
                  </a:tcPr>
                </a:tc>
              </a:tr>
              <a:tr h="438912">
                <a:tc>
                  <a:txBody>
                    <a:bodyPr/>
                    <a:lstStyle/>
                    <a:p>
                      <a:r>
                        <a:rPr sz="1200" b="1">
                          <a:solidFill>
                            <a:srgbClr val="1C1C1A"/>
                          </a:solidFill>
                        </a:rPr>
                        <a:t>24</a:t>
                      </a:r>
                    </a:p>
                  </a:txBody>
                  <a:tcPr anchor="ctr" marL="128016">
                    <a:solidFill>
                      <a:srgbClr val="E4ECE6"/>
                    </a:solidFill>
                  </a:tcPr>
                </a:tc>
                <a:tc>
                  <a:txBody>
                    <a:bodyPr/>
                    <a:lstStyle/>
                    <a:p>
                      <a:r>
                        <a:rPr sz="1200" b="0">
                          <a:solidFill>
                            <a:srgbClr val="1C1C1A"/>
                          </a:solidFill>
                        </a:rPr>
                        <a:t>QuickBooks</a:t>
                      </a:r>
                    </a:p>
                  </a:txBody>
                  <a:tcPr anchor="ctr" marL="128016">
                    <a:solidFill>
                      <a:srgbClr val="E4ECE6"/>
                    </a:solidFill>
                  </a:tcPr>
                </a:tc>
                <a:tc>
                  <a:txBody>
                    <a:bodyPr/>
                    <a:lstStyle/>
                    <a:p>
                      <a:r>
                        <a:rPr sz="1200" b="0">
                          <a:solidFill>
                            <a:srgbClr val="1C1C1A"/>
                          </a:solidFill>
                        </a:rPr>
                        <a:t>Demo steps for the post-connection import view</a:t>
                      </a:r>
                    </a:p>
                  </a:txBody>
                  <a:tcPr anchor="ctr" marL="128016">
                    <a:solidFill>
                      <a:srgbClr val="E4ECE6"/>
                    </a:solidFill>
                  </a:tcPr>
                </a:tc>
              </a:tr>
              <a:tr h="438912">
                <a:tc>
                  <a:txBody>
                    <a:bodyPr/>
                    <a:lstStyle/>
                    <a:p>
                      <a:r>
                        <a:rPr sz="1200" b="1">
                          <a:solidFill>
                            <a:srgbClr val="1C1C1A"/>
                          </a:solidFill>
                        </a:rPr>
                        <a:t>28</a:t>
                      </a:r>
                    </a:p>
                  </a:txBody>
                  <a:tcPr anchor="ctr" marL="128016">
                    <a:solidFill>
                      <a:srgbClr val="FFFFFF"/>
                    </a:solidFill>
                  </a:tcPr>
                </a:tc>
                <a:tc>
                  <a:txBody>
                    <a:bodyPr/>
                    <a:lstStyle/>
                    <a:p>
                      <a:r>
                        <a:rPr sz="1200" b="0">
                          <a:solidFill>
                            <a:srgbClr val="1C1C1A"/>
                          </a:solidFill>
                        </a:rPr>
                        <a:t>Fractional LLC</a:t>
                      </a:r>
                    </a:p>
                  </a:txBody>
                  <a:tcPr anchor="ctr" marL="128016">
                    <a:solidFill>
                      <a:srgbClr val="FFFFFF"/>
                    </a:solidFill>
                  </a:tcPr>
                </a:tc>
                <a:tc>
                  <a:txBody>
                    <a:bodyPr/>
                    <a:lstStyle/>
                    <a:p>
                      <a:r>
                        <a:rPr sz="1200" b="0">
                          <a:solidFill>
                            <a:srgbClr val="1C1C1A"/>
                          </a:solidFill>
                        </a:rPr>
                        <a:t>Demo steps for the participation / commit flow</a:t>
                      </a:r>
                    </a:p>
                  </a:txBody>
                  <a:tcPr anchor="ctr" marL="128016">
                    <a:solidFill>
                      <a:srgbClr val="FFFFFF"/>
                    </a:solidFill>
                  </a:tcPr>
                </a:tc>
              </a:tr>
              <a:tr h="438912">
                <a:tc>
                  <a:txBody>
                    <a:bodyPr/>
                    <a:lstStyle/>
                    <a:p>
                      <a:r>
                        <a:rPr sz="1200" b="1">
                          <a:solidFill>
                            <a:srgbClr val="1C1C1A"/>
                          </a:solidFill>
                        </a:rPr>
                        <a:t>32</a:t>
                      </a:r>
                    </a:p>
                  </a:txBody>
                  <a:tcPr anchor="ctr" marL="128016">
                    <a:solidFill>
                      <a:srgbClr val="E4ECE6"/>
                    </a:solidFill>
                  </a:tcPr>
                </a:tc>
                <a:tc>
                  <a:txBody>
                    <a:bodyPr/>
                    <a:lstStyle/>
                    <a:p>
                      <a:r>
                        <a:rPr sz="1200" b="0">
                          <a:solidFill>
                            <a:srgbClr val="1C1C1A"/>
                          </a:solidFill>
                        </a:rPr>
                        <a:t>Document OCR</a:t>
                      </a:r>
                    </a:p>
                  </a:txBody>
                  <a:tcPr anchor="ctr" marL="128016">
                    <a:solidFill>
                      <a:srgbClr val="E4ECE6"/>
                    </a:solidFill>
                  </a:tcPr>
                </a:tc>
                <a:tc>
                  <a:txBody>
                    <a:bodyPr/>
                    <a:lstStyle/>
                    <a:p>
                      <a:r>
                        <a:rPr sz="1200" b="0">
                          <a:solidFill>
                            <a:srgbClr val="1C1C1A"/>
                          </a:solidFill>
                        </a:rPr>
                        <a:t>Pre-test extraction on your actual demo file</a:t>
                      </a:r>
                    </a:p>
                  </a:txBody>
                  <a:tcPr anchor="ctr" marL="128016">
                    <a:solidFill>
                      <a:srgbClr val="E4ECE6"/>
                    </a:solidFill>
                  </a:tcPr>
                </a:tc>
              </a:tr>
              <a:tr h="438912">
                <a:tc>
                  <a:txBody>
                    <a:bodyPr/>
                    <a:lstStyle/>
                    <a:p>
                      <a:r>
                        <a:rPr sz="1200" b="1">
                          <a:solidFill>
                            <a:srgbClr val="1C1C1A"/>
                          </a:solidFill>
                        </a:rPr>
                        <a:t>35</a:t>
                      </a:r>
                    </a:p>
                  </a:txBody>
                  <a:tcPr anchor="ctr" marL="128016">
                    <a:solidFill>
                      <a:srgbClr val="FFFFFF"/>
                    </a:solidFill>
                  </a:tcPr>
                </a:tc>
                <a:tc>
                  <a:txBody>
                    <a:bodyPr/>
                    <a:lstStyle/>
                    <a:p>
                      <a:r>
                        <a:rPr sz="1200" b="0">
                          <a:solidFill>
                            <a:srgbClr val="1C1C1A"/>
                          </a:solidFill>
                        </a:rPr>
                        <a:t>CPA Marketplace</a:t>
                      </a:r>
                    </a:p>
                  </a:txBody>
                  <a:tcPr anchor="ctr" marL="128016">
                    <a:solidFill>
                      <a:srgbClr val="FFFFFF"/>
                    </a:solidFill>
                  </a:tcPr>
                </a:tc>
                <a:tc>
                  <a:txBody>
                    <a:bodyPr/>
                    <a:lstStyle/>
                    <a:p>
                      <a:r>
                        <a:rPr sz="1200" b="0">
                          <a:solidFill>
                            <a:srgbClr val="1C1C1A"/>
                          </a:solidFill>
                        </a:rPr>
                        <a:t>Confirm the in-app entry point (not in sidebar)</a:t>
                      </a:r>
                    </a:p>
                  </a:txBody>
                  <a:tcPr anchor="ctr" marL="128016">
                    <a:solidFill>
                      <a:srgbClr val="FFFFFF"/>
                    </a:solidFill>
                  </a:tcPr>
                </a:tc>
              </a:tr>
              <a:tr h="438912">
                <a:tc>
                  <a:txBody>
                    <a:bodyPr/>
                    <a:lstStyle/>
                    <a:p>
                      <a:r>
                        <a:rPr sz="1200" b="1">
                          <a:solidFill>
                            <a:srgbClr val="1C1C1A"/>
                          </a:solidFill>
                        </a:rPr>
                        <a:t>44</a:t>
                      </a:r>
                    </a:p>
                  </a:txBody>
                  <a:tcPr anchor="ctr" marL="128016">
                    <a:solidFill>
                      <a:srgbClr val="E4ECE6"/>
                    </a:solidFill>
                  </a:tcPr>
                </a:tc>
                <a:tc>
                  <a:txBody>
                    <a:bodyPr/>
                    <a:lstStyle/>
                    <a:p>
                      <a:r>
                        <a:rPr sz="1200" b="0">
                          <a:solidFill>
                            <a:srgbClr val="1C1C1A"/>
                          </a:solidFill>
                        </a:rPr>
                        <a:t>Learn &amp; Guide</a:t>
                      </a:r>
                    </a:p>
                  </a:txBody>
                  <a:tcPr anchor="ctr" marL="128016">
                    <a:solidFill>
                      <a:srgbClr val="E4ECE6"/>
                    </a:solidFill>
                  </a:tcPr>
                </a:tc>
                <a:tc>
                  <a:txBody>
                    <a:bodyPr/>
                    <a:lstStyle/>
                    <a:p>
                      <a:r>
                        <a:rPr sz="1200" b="0">
                          <a:solidFill>
                            <a:srgbClr val="1C1C1A"/>
                          </a:solidFill>
                        </a:rPr>
                        <a:t>Which modules have finished content?</a:t>
                      </a:r>
                    </a:p>
                  </a:txBody>
                  <a:tcPr anchor="ctr" marL="128016">
                    <a:solidFill>
                      <a:srgbClr val="E4ECE6"/>
                    </a:solidFill>
                  </a:tcPr>
                </a:tc>
              </a:tr>
              <a:tr h="438912">
                <a:tc>
                  <a:txBody>
                    <a:bodyPr/>
                    <a:lstStyle/>
                    <a:p>
                      <a:r>
                        <a:rPr sz="1200" b="1">
                          <a:solidFill>
                            <a:srgbClr val="1C1C1A"/>
                          </a:solidFill>
                        </a:rPr>
                        <a:t>46</a:t>
                      </a:r>
                    </a:p>
                  </a:txBody>
                  <a:tcPr anchor="ctr" marL="128016">
                    <a:solidFill>
                      <a:srgbClr val="FFFFFF"/>
                    </a:solidFill>
                  </a:tcPr>
                </a:tc>
                <a:tc>
                  <a:txBody>
                    <a:bodyPr/>
                    <a:lstStyle/>
                    <a:p>
                      <a:r>
                        <a:rPr sz="1200" b="0">
                          <a:solidFill>
                            <a:srgbClr val="1C1C1A"/>
                          </a:solidFill>
                        </a:rPr>
                        <a:t>Ops Portal</a:t>
                      </a:r>
                    </a:p>
                  </a:txBody>
                  <a:tcPr anchor="ctr" marL="128016">
                    <a:solidFill>
                      <a:srgbClr val="FFFFFF"/>
                    </a:solidFill>
                  </a:tcPr>
                </a:tc>
                <a:tc>
                  <a:txBody>
                    <a:bodyPr/>
                    <a:lstStyle/>
                    <a:p>
                      <a:r>
                        <a:rPr sz="1200" b="0">
                          <a:solidFill>
                            <a:srgbClr val="1C1C1A"/>
                          </a:solidFill>
                        </a:rPr>
                        <a:t>Show it at all? Needs a seeded staff account</a:t>
                      </a:r>
                    </a:p>
                  </a:txBody>
                  <a:tcPr anchor="ctr" marL="128016">
                    <a:solidFill>
                      <a:srgbClr val="FFFFFF"/>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658368"/>
            <a:ext cx="10058400" cy="457200"/>
          </a:xfrm>
          <a:prstGeom prst="rect">
            <a:avLst/>
          </a:prstGeom>
          <a:noFill/>
        </p:spPr>
        <p:txBody>
          <a:bodyPr wrap="square" anchor="t" lIns="0" rIns="0" tIns="0" bIns="0">
            <a:spAutoFit/>
          </a:bodyPr>
          <a:lstStyle/>
          <a:p>
            <a:pPr algn="l">
              <a:lnSpc>
                <a:spcPct val="125000"/>
              </a:lnSpc>
            </a:pPr>
            <a:r>
              <a:rPr sz="1300" b="1">
                <a:solidFill>
                  <a:srgbClr val="F0C878"/>
                </a:solidFill>
                <a:latin typeface="Helvetica Neue"/>
              </a:rPr>
              <a:t>ONE-PAGE CHEAT CARD</a:t>
            </a:r>
          </a:p>
        </p:txBody>
      </p:sp>
      <p:sp>
        <p:nvSpPr>
          <p:cNvPr id="5" name="TextBox 4"/>
          <p:cNvSpPr txBox="1"/>
          <p:nvPr/>
        </p:nvSpPr>
        <p:spPr>
          <a:xfrm>
            <a:off x="1005840" y="1078992"/>
            <a:ext cx="10058400" cy="640080"/>
          </a:xfrm>
          <a:prstGeom prst="rect">
            <a:avLst/>
          </a:prstGeom>
          <a:noFill/>
        </p:spPr>
        <p:txBody>
          <a:bodyPr wrap="square" anchor="t" lIns="0" rIns="0" tIns="0" bIns="0">
            <a:spAutoFit/>
          </a:bodyPr>
          <a:lstStyle/>
          <a:p>
            <a:pPr algn="l">
              <a:lnSpc>
                <a:spcPct val="110000"/>
              </a:lnSpc>
            </a:pPr>
            <a:r>
              <a:rPr sz="3000" b="1">
                <a:solidFill>
                  <a:srgbClr val="FFFFFF"/>
                </a:solidFill>
                <a:latin typeface="Helvetica Neue"/>
              </a:rPr>
              <a:t>Keep this visible during the call</a:t>
            </a:r>
          </a:p>
        </p:txBody>
      </p:sp>
      <p:sp>
        <p:nvSpPr>
          <p:cNvPr id="6" name="Rectangle 5"/>
          <p:cNvSpPr/>
          <p:nvPr/>
        </p:nvSpPr>
        <p:spPr>
          <a:xfrm>
            <a:off x="1005840" y="1783080"/>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846320" cy="4023360"/>
          </a:xfrm>
          <a:prstGeom prst="rect">
            <a:avLst/>
          </a:prstGeom>
          <a:noFill/>
        </p:spPr>
        <p:txBody>
          <a:bodyPr wrap="square" anchor="t" lIns="0" rIns="0" tIns="0" bIns="0">
            <a:spAutoFit/>
          </a:bodyPr>
          <a:lstStyle/>
          <a:p>
            <a:pPr algn="l">
              <a:lnSpc>
                <a:spcPct val="120000"/>
              </a:lnSpc>
            </a:pPr>
            <a:r>
              <a:rPr sz="1200" b="1">
                <a:solidFill>
                  <a:srgbClr val="C9973A"/>
                </a:solidFill>
                <a:latin typeface="Helvetica Neue"/>
              </a:rPr>
              <a:t>Live</a:t>
            </a:r>
          </a:p>
          <a:p>
            <a:pPr algn="l">
              <a:lnSpc>
                <a:spcPct val="120000"/>
              </a:lnSpc>
              <a:spcBef>
                <a:spcPts val="200"/>
              </a:spcBef>
            </a:pPr>
            <a:r>
              <a:rPr sz="1700" b="1">
                <a:solidFill>
                  <a:srgbClr val="FFFFFF"/>
                </a:solidFill>
                <a:latin typeface="Helvetica Neue"/>
              </a:rPr>
              <a:t>app.terravest.app</a:t>
            </a:r>
          </a:p>
          <a:p>
            <a:pPr algn="l">
              <a:lnSpc>
                <a:spcPct val="120000"/>
              </a:lnSpc>
              <a:spcBef>
                <a:spcPts val="1400"/>
              </a:spcBef>
            </a:pPr>
            <a:r>
              <a:rPr sz="1200" b="1">
                <a:solidFill>
                  <a:srgbClr val="C9973A"/>
                </a:solidFill>
                <a:latin typeface="Helvetica Neue"/>
              </a:rPr>
              <a:t>For</a:t>
            </a:r>
          </a:p>
          <a:p>
            <a:pPr algn="l">
              <a:lnSpc>
                <a:spcPct val="120000"/>
              </a:lnSpc>
              <a:spcBef>
                <a:spcPts val="200"/>
              </a:spcBef>
            </a:pPr>
            <a:r>
              <a:rPr sz="1700" b="1">
                <a:solidFill>
                  <a:srgbClr val="FFFFFF"/>
                </a:solidFill>
                <a:latin typeface="Helvetica Neue"/>
              </a:rPr>
              <a:t>Self-employed people with a business and property</a:t>
            </a:r>
          </a:p>
          <a:p>
            <a:pPr algn="l">
              <a:lnSpc>
                <a:spcPct val="120000"/>
              </a:lnSpc>
              <a:spcBef>
                <a:spcPts val="1400"/>
              </a:spcBef>
            </a:pPr>
            <a:r>
              <a:rPr sz="1200" b="1">
                <a:solidFill>
                  <a:srgbClr val="C9973A"/>
                </a:solidFill>
                <a:latin typeface="Helvetica Neue"/>
              </a:rPr>
              <a:t>Pricing</a:t>
            </a:r>
          </a:p>
          <a:p>
            <a:pPr algn="l">
              <a:lnSpc>
                <a:spcPct val="120000"/>
              </a:lnSpc>
              <a:spcBef>
                <a:spcPts val="200"/>
              </a:spcBef>
            </a:pPr>
            <a:r>
              <a:rPr sz="1700" b="1">
                <a:solidFill>
                  <a:srgbClr val="FFFFFF"/>
                </a:solidFill>
                <a:latin typeface="Helvetica Neue"/>
              </a:rPr>
              <a:t>Individual $9.99 · Business $29.99 · 7-day trial</a:t>
            </a:r>
          </a:p>
          <a:p>
            <a:pPr algn="l">
              <a:lnSpc>
                <a:spcPct val="120000"/>
              </a:lnSpc>
              <a:spcBef>
                <a:spcPts val="1400"/>
              </a:spcBef>
            </a:pPr>
            <a:r>
              <a:rPr sz="1200" b="1">
                <a:solidFill>
                  <a:srgbClr val="C9973A"/>
                </a:solidFill>
                <a:latin typeface="Helvetica Neue"/>
              </a:rPr>
              <a:t>Scale</a:t>
            </a:r>
          </a:p>
          <a:p>
            <a:pPr algn="l">
              <a:lnSpc>
                <a:spcPct val="120000"/>
              </a:lnSpc>
              <a:spcBef>
                <a:spcPts val="200"/>
              </a:spcBef>
            </a:pPr>
            <a:r>
              <a:rPr sz="1700" b="1">
                <a:solidFill>
                  <a:srgbClr val="FFFFFF"/>
                </a:solidFill>
                <a:latin typeface="Helvetica Neue"/>
              </a:rPr>
              <a:t>14 services · 305 endpoints · 35 screens · 3 platforms</a:t>
            </a:r>
          </a:p>
        </p:txBody>
      </p:sp>
      <p:sp>
        <p:nvSpPr>
          <p:cNvPr id="8" name="TextBox 7"/>
          <p:cNvSpPr txBox="1"/>
          <p:nvPr/>
        </p:nvSpPr>
        <p:spPr>
          <a:xfrm>
            <a:off x="6400800" y="2103120"/>
            <a:ext cx="4846320" cy="4023360"/>
          </a:xfrm>
          <a:prstGeom prst="rect">
            <a:avLst/>
          </a:prstGeom>
          <a:noFill/>
        </p:spPr>
        <p:txBody>
          <a:bodyPr wrap="square" anchor="t" lIns="0" rIns="0" tIns="0" bIns="0">
            <a:spAutoFit/>
          </a:bodyPr>
          <a:lstStyle/>
          <a:p>
            <a:pPr algn="l">
              <a:lnSpc>
                <a:spcPct val="120000"/>
              </a:lnSpc>
            </a:pPr>
            <a:r>
              <a:rPr sz="1200" b="1">
                <a:solidFill>
                  <a:srgbClr val="C9973A"/>
                </a:solidFill>
                <a:latin typeface="Helvetica Neue"/>
              </a:rPr>
              <a:t>Order</a:t>
            </a:r>
          </a:p>
          <a:p>
            <a:pPr algn="l">
              <a:lnSpc>
                <a:spcPct val="120000"/>
              </a:lnSpc>
              <a:spcBef>
                <a:spcPts val="200"/>
              </a:spcBef>
            </a:pPr>
            <a:r>
              <a:rPr sz="1700" b="1">
                <a:solidFill>
                  <a:srgbClr val="FFFFFF"/>
                </a:solidFill>
                <a:latin typeface="Helvetica Neue"/>
              </a:rPr>
              <a:t>Home → Business (forecast → AR → remind) → Property → Tax → Documents → Close</a:t>
            </a:r>
          </a:p>
          <a:p>
            <a:pPr algn="l">
              <a:lnSpc>
                <a:spcPct val="120000"/>
              </a:lnSpc>
              <a:spcBef>
                <a:spcPts val="1400"/>
              </a:spcBef>
            </a:pPr>
            <a:r>
              <a:rPr sz="1200" b="1">
                <a:solidFill>
                  <a:srgbClr val="C9973A"/>
                </a:solidFill>
                <a:latin typeface="Helvetica Neue"/>
              </a:rPr>
              <a:t>Best moment</a:t>
            </a:r>
          </a:p>
          <a:p>
            <a:pPr algn="l">
              <a:lnSpc>
                <a:spcPct val="120000"/>
              </a:lnSpc>
              <a:spcBef>
                <a:spcPts val="200"/>
              </a:spcBef>
            </a:pPr>
            <a:r>
              <a:rPr sz="1700" b="1">
                <a:solidFill>
                  <a:srgbClr val="FFFFFF"/>
                </a:solidFill>
                <a:latin typeface="Helvetica Neue"/>
              </a:rPr>
              <a:t>90-day cash forecast</a:t>
            </a:r>
          </a:p>
          <a:p>
            <a:pPr algn="l">
              <a:lnSpc>
                <a:spcPct val="120000"/>
              </a:lnSpc>
              <a:spcBef>
                <a:spcPts val="1400"/>
              </a:spcBef>
            </a:pPr>
            <a:r>
              <a:rPr sz="1200" b="1">
                <a:solidFill>
                  <a:srgbClr val="C9973A"/>
                </a:solidFill>
                <a:latin typeface="Helvetica Neue"/>
              </a:rPr>
              <a:t>Best screen</a:t>
            </a:r>
          </a:p>
          <a:p>
            <a:pPr algn="l">
              <a:lnSpc>
                <a:spcPct val="120000"/>
              </a:lnSpc>
              <a:spcBef>
                <a:spcPts val="200"/>
              </a:spcBef>
            </a:pPr>
            <a:r>
              <a:rPr sz="1700" b="1">
                <a:solidFill>
                  <a:srgbClr val="FFFFFF"/>
                </a:solidFill>
                <a:latin typeface="Helvetica Neue"/>
              </a:rPr>
              <a:t>Tax — depreciation, suspended losses, QBI</a:t>
            </a:r>
          </a:p>
          <a:p>
            <a:pPr algn="l">
              <a:lnSpc>
                <a:spcPct val="120000"/>
              </a:lnSpc>
              <a:spcBef>
                <a:spcPts val="1400"/>
              </a:spcBef>
            </a:pPr>
            <a:r>
              <a:rPr sz="1200" b="1">
                <a:solidFill>
                  <a:srgbClr val="C9973A"/>
                </a:solidFill>
                <a:latin typeface="Helvetica Neue"/>
              </a:rPr>
              <a:t>Biggest risk (own it)</a:t>
            </a:r>
          </a:p>
          <a:p>
            <a:pPr algn="l">
              <a:lnSpc>
                <a:spcPct val="120000"/>
              </a:lnSpc>
              <a:spcBef>
                <a:spcPts val="200"/>
              </a:spcBef>
            </a:pPr>
            <a:r>
              <a:rPr sz="1700" b="1">
                <a:solidFill>
                  <a:srgbClr val="FFFFFF"/>
                </a:solidFill>
                <a:latin typeface="Helvetica Neue"/>
              </a:rPr>
              <a:t>Distribution, not product</a:t>
            </a:r>
          </a:p>
          <a:p>
            <a:pPr algn="l">
              <a:lnSpc>
                <a:spcPct val="120000"/>
              </a:lnSpc>
              <a:spcBef>
                <a:spcPts val="1400"/>
              </a:spcBef>
            </a:pPr>
            <a:r>
              <a:rPr sz="1200" b="1">
                <a:solidFill>
                  <a:srgbClr val="C9973A"/>
                </a:solidFill>
                <a:latin typeface="Helvetica Neue"/>
              </a:rPr>
              <a:t>Next milestone</a:t>
            </a:r>
          </a:p>
          <a:p>
            <a:pPr algn="l">
              <a:lnSpc>
                <a:spcPct val="120000"/>
              </a:lnSpc>
              <a:spcBef>
                <a:spcPts val="200"/>
              </a:spcBef>
            </a:pPr>
            <a:r>
              <a:rPr sz="1700" b="1">
                <a:solidFill>
                  <a:srgbClr val="FFFFFF"/>
                </a:solidFill>
                <a:latin typeface="Helvetica Neue"/>
              </a:rPr>
              <a:t>50–100 weekly actives in the niche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920240"/>
            <a:ext cx="9509760" cy="2926080"/>
          </a:xfrm>
          <a:prstGeom prst="rect">
            <a:avLst/>
          </a:prstGeom>
          <a:noFill/>
        </p:spPr>
        <p:txBody>
          <a:bodyPr wrap="square" anchor="ctr" lIns="0" rIns="0" tIns="0" bIns="0">
            <a:spAutoFit/>
          </a:bodyPr>
          <a:lstStyle/>
          <a:p>
            <a:pPr algn="l">
              <a:lnSpc>
                <a:spcPct val="130000"/>
              </a:lnSpc>
            </a:pPr>
            <a:r>
              <a:rPr sz="3300" b="1">
                <a:solidFill>
                  <a:srgbClr val="FFFFFF"/>
                </a:solidFill>
                <a:latin typeface="Helvetica Neue"/>
              </a:rPr>
              <a:t>“Too complicated for a budgeting app. Too personal for accounting software.”</a:t>
            </a:r>
          </a:p>
        </p:txBody>
      </p:sp>
      <p:sp>
        <p:nvSpPr>
          <p:cNvPr id="5" name="Rectangle 4"/>
          <p:cNvSpPr/>
          <p:nvPr/>
        </p:nvSpPr>
        <p:spPr>
          <a:xfrm>
            <a:off x="1280160" y="4983480"/>
            <a:ext cx="1097280" cy="41148"/>
          </a:xfrm>
          <a:prstGeom prst="rect">
            <a:avLst/>
          </a:prstGeom>
          <a:solidFill>
            <a:srgbClr val="C99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5257800"/>
            <a:ext cx="9144000" cy="457200"/>
          </a:xfrm>
          <a:prstGeom prst="rect">
            <a:avLst/>
          </a:prstGeom>
          <a:noFill/>
        </p:spPr>
        <p:txBody>
          <a:bodyPr wrap="square" anchor="t" lIns="0" rIns="0" tIns="0" bIns="0">
            <a:spAutoFit/>
          </a:bodyPr>
          <a:lstStyle/>
          <a:p>
            <a:pPr algn="l">
              <a:lnSpc>
                <a:spcPct val="125000"/>
              </a:lnSpc>
            </a:pPr>
            <a:r>
              <a:rPr sz="1400" b="0">
                <a:solidFill>
                  <a:srgbClr val="F0C878"/>
                </a:solidFill>
                <a:latin typeface="Helvetica Neue"/>
              </a:rPr>
              <a:t>TerraVest  ·  app.terravest.app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